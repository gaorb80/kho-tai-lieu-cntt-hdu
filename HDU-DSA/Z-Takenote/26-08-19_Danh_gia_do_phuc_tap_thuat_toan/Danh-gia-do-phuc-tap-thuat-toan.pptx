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4" d="100"/>
          <a:sy n="114"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Calibri"/>
              </a:defRPr>
            </a:pPr>
            <a:r>
              <a:rPr lang="pt-BR" sz="1400" b="0" i="0" u="none" strike="noStrike">
                <a:solidFill>
                  <a:srgbClr val="1E2761"/>
                </a:solidFill>
                <a:latin typeface="Calibri"/>
              </a:rPr>
              <a:t>So sánh O(n), O(n log n), O(n²)</a:t>
            </a:r>
          </a:p>
        </c:rich>
      </c:tx>
      <c:overlay val="0"/>
    </c:title>
    <c:autoTitleDeleted val="0"/>
    <c:plotArea>
      <c:layout/>
      <c:lineChart>
        <c:grouping val="standard"/>
        <c:varyColors val="0"/>
        <c:ser>
          <c:idx val="0"/>
          <c:order val="0"/>
          <c:tx>
            <c:strRef>
              <c:f>Sheet1!$B$1</c:f>
              <c:strCache>
                <c:ptCount val="1"/>
                <c:pt idx="0">
                  <c:v>O(n)</c:v>
                </c:pt>
              </c:strCache>
            </c:strRef>
          </c:tx>
          <c:spPr>
            <a:ln w="31750" cap="flat">
              <a:solidFill>
                <a:srgbClr val="2E7D5B"/>
              </a:solidFill>
              <a:prstDash val="solid"/>
              <a:round/>
            </a:ln>
            <a:effectLst/>
          </c:spPr>
          <c:marker>
            <c:symbol val="circle"/>
            <c:size val="6"/>
            <c:spPr>
              <a:solidFill>
                <a:srgbClr val="2E7D5B"/>
              </a:solidFill>
              <a:ln w="9525" cap="flat">
                <a:solidFill>
                  <a:srgbClr val="2E7D5B"/>
                </a:solidFill>
                <a:prstDash val="solid"/>
                <a:round/>
              </a:ln>
              <a:effectLst/>
            </c:spPr>
          </c:marker>
          <c:cat>
            <c:strRef>
              <c:f>Sheet1!$A$2:$A$6</c:f>
              <c:strCache>
                <c:ptCount val="5"/>
                <c:pt idx="0">
                  <c:v>10</c:v>
                </c:pt>
                <c:pt idx="1">
                  <c:v>20</c:v>
                </c:pt>
                <c:pt idx="2">
                  <c:v>30</c:v>
                </c:pt>
                <c:pt idx="3">
                  <c:v>40</c:v>
                </c:pt>
                <c:pt idx="4">
                  <c:v>50</c:v>
                </c:pt>
              </c:strCache>
            </c:strRef>
          </c:cat>
          <c:val>
            <c:numRef>
              <c:f>Sheet1!$B$2:$B$6</c:f>
              <c:numCache>
                <c:formatCode>General</c:formatCode>
                <c:ptCount val="5"/>
                <c:pt idx="0">
                  <c:v>10</c:v>
                </c:pt>
                <c:pt idx="1">
                  <c:v>20</c:v>
                </c:pt>
                <c:pt idx="2">
                  <c:v>30</c:v>
                </c:pt>
                <c:pt idx="3">
                  <c:v>40</c:v>
                </c:pt>
                <c:pt idx="4">
                  <c:v>50</c:v>
                </c:pt>
              </c:numCache>
            </c:numRef>
          </c:val>
          <c:smooth val="0"/>
          <c:extLst>
            <c:ext xmlns:c16="http://schemas.microsoft.com/office/drawing/2014/chart" uri="{C3380CC4-5D6E-409C-BE32-E72D297353CC}">
              <c16:uniqueId val="{00000000-4518-4ED1-B36F-4FED88F3693F}"/>
            </c:ext>
          </c:extLst>
        </c:ser>
        <c:ser>
          <c:idx val="1"/>
          <c:order val="1"/>
          <c:tx>
            <c:strRef>
              <c:f>Sheet1!$C$1</c:f>
              <c:strCache>
                <c:ptCount val="1"/>
                <c:pt idx="0">
                  <c:v>O(n log n)</c:v>
                </c:pt>
              </c:strCache>
            </c:strRef>
          </c:tx>
          <c:spPr>
            <a:ln w="31750" cap="flat">
              <a:solidFill>
                <a:srgbClr val="1E2761"/>
              </a:solidFill>
              <a:prstDash val="solid"/>
              <a:round/>
            </a:ln>
            <a:effectLst/>
          </c:spPr>
          <c:marker>
            <c:symbol val="circle"/>
            <c:size val="6"/>
            <c:spPr>
              <a:solidFill>
                <a:srgbClr val="1E2761"/>
              </a:solidFill>
              <a:ln w="9525" cap="flat">
                <a:solidFill>
                  <a:srgbClr val="1E2761"/>
                </a:solidFill>
                <a:prstDash val="solid"/>
                <a:round/>
              </a:ln>
              <a:effectLst/>
            </c:spPr>
          </c:marker>
          <c:cat>
            <c:strRef>
              <c:f>Sheet1!$A$2:$A$6</c:f>
              <c:strCache>
                <c:ptCount val="5"/>
                <c:pt idx="0">
                  <c:v>10</c:v>
                </c:pt>
                <c:pt idx="1">
                  <c:v>20</c:v>
                </c:pt>
                <c:pt idx="2">
                  <c:v>30</c:v>
                </c:pt>
                <c:pt idx="3">
                  <c:v>40</c:v>
                </c:pt>
                <c:pt idx="4">
                  <c:v>50</c:v>
                </c:pt>
              </c:strCache>
            </c:strRef>
          </c:cat>
          <c:val>
            <c:numRef>
              <c:f>Sheet1!$C$2:$C$6</c:f>
              <c:numCache>
                <c:formatCode>General</c:formatCode>
                <c:ptCount val="5"/>
                <c:pt idx="0">
                  <c:v>33</c:v>
                </c:pt>
                <c:pt idx="1">
                  <c:v>86</c:v>
                </c:pt>
                <c:pt idx="2">
                  <c:v>147</c:v>
                </c:pt>
                <c:pt idx="3">
                  <c:v>213</c:v>
                </c:pt>
                <c:pt idx="4">
                  <c:v>282</c:v>
                </c:pt>
              </c:numCache>
            </c:numRef>
          </c:val>
          <c:smooth val="0"/>
          <c:extLst>
            <c:ext xmlns:c16="http://schemas.microsoft.com/office/drawing/2014/chart" uri="{C3380CC4-5D6E-409C-BE32-E72D297353CC}">
              <c16:uniqueId val="{00000001-4518-4ED1-B36F-4FED88F3693F}"/>
            </c:ext>
          </c:extLst>
        </c:ser>
        <c:ser>
          <c:idx val="2"/>
          <c:order val="2"/>
          <c:tx>
            <c:strRef>
              <c:f>Sheet1!$D$1</c:f>
              <c:strCache>
                <c:ptCount val="1"/>
                <c:pt idx="0">
                  <c:v>O(n²)</c:v>
                </c:pt>
              </c:strCache>
            </c:strRef>
          </c:tx>
          <c:spPr>
            <a:ln w="31750" cap="flat">
              <a:solidFill>
                <a:srgbClr val="B23A48"/>
              </a:solidFill>
              <a:prstDash val="solid"/>
              <a:round/>
            </a:ln>
            <a:effectLst/>
          </c:spPr>
          <c:marker>
            <c:symbol val="circle"/>
            <c:size val="6"/>
            <c:spPr>
              <a:solidFill>
                <a:srgbClr val="B23A48"/>
              </a:solidFill>
              <a:ln w="9525" cap="flat">
                <a:solidFill>
                  <a:srgbClr val="B23A48"/>
                </a:solidFill>
                <a:prstDash val="solid"/>
                <a:round/>
              </a:ln>
              <a:effectLst/>
            </c:spPr>
          </c:marker>
          <c:cat>
            <c:strRef>
              <c:f>Sheet1!$A$2:$A$6</c:f>
              <c:strCache>
                <c:ptCount val="5"/>
                <c:pt idx="0">
                  <c:v>10</c:v>
                </c:pt>
                <c:pt idx="1">
                  <c:v>20</c:v>
                </c:pt>
                <c:pt idx="2">
                  <c:v>30</c:v>
                </c:pt>
                <c:pt idx="3">
                  <c:v>40</c:v>
                </c:pt>
                <c:pt idx="4">
                  <c:v>50</c:v>
                </c:pt>
              </c:strCache>
            </c:strRef>
          </c:cat>
          <c:val>
            <c:numRef>
              <c:f>Sheet1!$D$2:$D$6</c:f>
              <c:numCache>
                <c:formatCode>General</c:formatCode>
                <c:ptCount val="5"/>
                <c:pt idx="0">
                  <c:v>100</c:v>
                </c:pt>
                <c:pt idx="1">
                  <c:v>400</c:v>
                </c:pt>
                <c:pt idx="2">
                  <c:v>900</c:v>
                </c:pt>
                <c:pt idx="3">
                  <c:v>1600</c:v>
                </c:pt>
                <c:pt idx="4">
                  <c:v>2500</c:v>
                </c:pt>
              </c:numCache>
            </c:numRef>
          </c:val>
          <c:smooth val="0"/>
          <c:extLst>
            <c:ext xmlns:c16="http://schemas.microsoft.com/office/drawing/2014/chart" uri="{C3380CC4-5D6E-409C-BE32-E72D297353CC}">
              <c16:uniqueId val="{00000002-4518-4ED1-B36F-4FED88F3693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29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273478"/>
          </a:solidFill>
          <a:ln/>
        </p:spPr>
      </p:sp>
      <p:sp>
        <p:nvSpPr>
          <p:cNvPr id="3" name="Shape 1"/>
          <p:cNvSpPr/>
          <p:nvPr/>
        </p:nvSpPr>
        <p:spPr>
          <a:xfrm>
            <a:off x="-1828800" y="4754880"/>
            <a:ext cx="4114800" cy="4114800"/>
          </a:xfrm>
          <a:prstGeom prst="ellipse">
            <a:avLst/>
          </a:prstGeom>
          <a:solidFill>
            <a:srgbClr val="273478"/>
          </a:solidFill>
          <a:ln/>
        </p:spPr>
      </p:sp>
      <p:sp>
        <p:nvSpPr>
          <p:cNvPr id="4" name="Text 2"/>
          <p:cNvSpPr/>
          <p:nvPr/>
        </p:nvSpPr>
        <p:spPr>
          <a:xfrm>
            <a:off x="822960" y="1554480"/>
            <a:ext cx="7315200" cy="365760"/>
          </a:xfrm>
          <a:prstGeom prst="rect">
            <a:avLst/>
          </a:prstGeom>
          <a:noFill/>
          <a:ln/>
        </p:spPr>
        <p:txBody>
          <a:bodyPr wrap="square" rtlCol="0" anchor="ctr"/>
          <a:lstStyle/>
          <a:p>
            <a:pPr marL="0" indent="0">
              <a:buNone/>
            </a:pPr>
            <a:r>
              <a:rPr lang="en-US" sz="1400" b="1" kern="0" spc="200" dirty="0">
                <a:solidFill>
                  <a:srgbClr val="F2B134"/>
                </a:solidFill>
                <a:latin typeface="Calibri" pitchFamily="34" charset="0"/>
                <a:ea typeface="Calibri" pitchFamily="34" charset="-122"/>
                <a:cs typeface="Calibri" pitchFamily="34" charset="-120"/>
              </a:rPr>
              <a:t>DSA · KIẾN THỨC NỀN TẢNG</a:t>
            </a:r>
            <a:endParaRPr lang="en-US" sz="1400" dirty="0"/>
          </a:p>
        </p:txBody>
      </p:sp>
      <p:sp>
        <p:nvSpPr>
          <p:cNvPr id="5" name="Text 3"/>
          <p:cNvSpPr/>
          <p:nvPr/>
        </p:nvSpPr>
        <p:spPr>
          <a:xfrm>
            <a:off x="777240" y="1965960"/>
            <a:ext cx="9601200" cy="1920240"/>
          </a:xfrm>
          <a:prstGeom prst="rect">
            <a:avLst/>
          </a:prstGeom>
          <a:noFill/>
          <a:ln/>
        </p:spPr>
        <p:txBody>
          <a:bodyPr wrap="square" rtlCol="0" anchor="ctr"/>
          <a:lstStyle/>
          <a:p>
            <a:pPr marL="0" indent="0">
              <a:lnSpc>
                <a:spcPct val="105000"/>
              </a:lnSpc>
              <a:buNone/>
            </a:pPr>
            <a:r>
              <a:rPr lang="en-US" sz="4600" b="1" dirty="0">
                <a:solidFill>
                  <a:srgbClr val="FFFFFF"/>
                </a:solidFill>
                <a:latin typeface="Calibri" pitchFamily="34" charset="0"/>
                <a:ea typeface="Calibri" pitchFamily="34" charset="-122"/>
                <a:cs typeface="Calibri" pitchFamily="34" charset="-120"/>
              </a:rPr>
              <a:t>Đánh Giá Độ Phức Tạp</a:t>
            </a:r>
            <a:endParaRPr lang="en-US" sz="4600" dirty="0"/>
          </a:p>
          <a:p>
            <a:pPr marL="0" indent="0">
              <a:lnSpc>
                <a:spcPct val="105000"/>
              </a:lnSpc>
              <a:buNone/>
            </a:pPr>
            <a:r>
              <a:rPr lang="en-US" sz="4600" b="1" dirty="0">
                <a:solidFill>
                  <a:srgbClr val="FFFFFF"/>
                </a:solidFill>
                <a:latin typeface="Calibri" pitchFamily="34" charset="0"/>
                <a:ea typeface="Calibri" pitchFamily="34" charset="-122"/>
                <a:cs typeface="Calibri" pitchFamily="34" charset="-120"/>
              </a:rPr>
              <a:t>Thuật Toán</a:t>
            </a:r>
            <a:endParaRPr lang="en-US" sz="4600" dirty="0"/>
          </a:p>
        </p:txBody>
      </p:sp>
      <p:sp>
        <p:nvSpPr>
          <p:cNvPr id="6" name="Text 4"/>
          <p:cNvSpPr/>
          <p:nvPr/>
        </p:nvSpPr>
        <p:spPr>
          <a:xfrm>
            <a:off x="822960" y="3794760"/>
            <a:ext cx="8686800" cy="45720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Time Complexity — Trọng tâm: Độ phức tạp thời gian</a:t>
            </a:r>
            <a:endParaRPr lang="en-US" sz="1800" dirty="0"/>
          </a:p>
        </p:txBody>
      </p:sp>
      <p:sp>
        <p:nvSpPr>
          <p:cNvPr id="7" name="Shape 5"/>
          <p:cNvSpPr/>
          <p:nvPr/>
        </p:nvSpPr>
        <p:spPr>
          <a:xfrm>
            <a:off x="822960" y="4434840"/>
            <a:ext cx="2011680" cy="0"/>
          </a:xfrm>
          <a:prstGeom prst="line">
            <a:avLst/>
          </a:prstGeom>
          <a:noFill/>
          <a:ln w="31750">
            <a:solidFill>
              <a:srgbClr val="F2B134"/>
            </a:solidFill>
            <a:prstDash val="solid"/>
          </a:ln>
        </p:spPr>
      </p:sp>
      <p:sp>
        <p:nvSpPr>
          <p:cNvPr id="8" name="Text 6"/>
          <p:cNvSpPr/>
          <p:nvPr/>
        </p:nvSpPr>
        <p:spPr>
          <a:xfrm>
            <a:off x="822960" y="4617720"/>
            <a:ext cx="82296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Tài liệu dành cho người mới bắt đầu học Cấu trúc dữ liệu &amp; Giải thuật</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ĐỘNG LỰC</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Tại sao cần đánh giá độ phức tạp thuật toán?</a:t>
            </a:r>
            <a:endParaRPr lang="en-US" sz="3000" dirty="0"/>
          </a:p>
        </p:txBody>
      </p:sp>
      <p:sp>
        <p:nvSpPr>
          <p:cNvPr id="5" name="Text 3"/>
          <p:cNvSpPr/>
          <p:nvPr/>
        </p:nvSpPr>
        <p:spPr>
          <a:xfrm>
            <a:off x="457200" y="1691640"/>
            <a:ext cx="11274552" cy="731520"/>
          </a:xfrm>
          <a:prstGeom prst="rect">
            <a:avLst/>
          </a:prstGeom>
          <a:noFill/>
          <a:ln/>
        </p:spPr>
        <p:txBody>
          <a:bodyPr wrap="square" rtlCol="0" anchor="ctr"/>
          <a:lstStyle/>
          <a:p>
            <a:pPr marL="0" indent="0">
              <a:lnSpc>
                <a:spcPct val="125000"/>
              </a:lnSpc>
              <a:buNone/>
            </a:pPr>
            <a:r>
              <a:rPr lang="en-US" sz="1400" dirty="0">
                <a:solidFill>
                  <a:srgbClr val="1B2340"/>
                </a:solidFill>
                <a:latin typeface="Calibri" pitchFamily="34" charset="0"/>
                <a:ea typeface="Calibri" pitchFamily="34" charset="-122"/>
                <a:cs typeface="Calibri" pitchFamily="34" charset="-120"/>
              </a:rPr>
              <a:t>Với cùng một bài toán, thường có nhiều thuật toán khác nhau. Đo bằng đồng hồ bấm giờ không đáng tin cậy vì kết quả phụ thuộc CPU, ngôn ngữ, trình biên dịch — ta cần một thước đo độc lập với phần cứng.</a:t>
            </a:r>
            <a:endParaRPr lang="en-US" sz="1400" dirty="0"/>
          </a:p>
        </p:txBody>
      </p:sp>
      <p:sp>
        <p:nvSpPr>
          <p:cNvPr id="6" name="Shape 4"/>
          <p:cNvSpPr/>
          <p:nvPr/>
        </p:nvSpPr>
        <p:spPr>
          <a:xfrm>
            <a:off x="457200" y="2743200"/>
            <a:ext cx="3529584" cy="2651760"/>
          </a:xfrm>
          <a:prstGeom prst="roundRect">
            <a:avLst>
              <a:gd name="adj" fmla="val 4138"/>
            </a:avLst>
          </a:prstGeom>
          <a:solidFill>
            <a:srgbClr val="F4F6FC"/>
          </a:solidFill>
          <a:ln/>
        </p:spPr>
      </p:sp>
      <p:sp>
        <p:nvSpPr>
          <p:cNvPr id="7" name="Shape 5"/>
          <p:cNvSpPr/>
          <p:nvPr/>
        </p:nvSpPr>
        <p:spPr>
          <a:xfrm>
            <a:off x="731520" y="3017520"/>
            <a:ext cx="502920" cy="502920"/>
          </a:xfrm>
          <a:prstGeom prst="ellipse">
            <a:avLst/>
          </a:prstGeom>
          <a:solidFill>
            <a:srgbClr val="1E2761"/>
          </a:solidFill>
          <a:ln/>
        </p:spPr>
      </p:sp>
      <p:sp>
        <p:nvSpPr>
          <p:cNvPr id="8" name="Text 6"/>
          <p:cNvSpPr/>
          <p:nvPr/>
        </p:nvSpPr>
        <p:spPr>
          <a:xfrm>
            <a:off x="731520" y="301752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731520" y="3703320"/>
            <a:ext cx="2980944"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Không đáng tin</a:t>
            </a:r>
            <a:endParaRPr lang="en-US" sz="1600" dirty="0"/>
          </a:p>
        </p:txBody>
      </p:sp>
      <p:sp>
        <p:nvSpPr>
          <p:cNvPr id="10" name="Text 8"/>
          <p:cNvSpPr/>
          <p:nvPr/>
        </p:nvSpPr>
        <p:spPr>
          <a:xfrm>
            <a:off x="731520" y="4160520"/>
            <a:ext cx="2980944" cy="1051560"/>
          </a:xfrm>
          <a:prstGeom prst="rect">
            <a:avLst/>
          </a:prstGeom>
          <a:noFill/>
          <a:ln/>
        </p:spPr>
        <p:txBody>
          <a:bodyPr wrap="square"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Thời gian chạy thực tế phụ thuộc máy, ngôn ngữ, trình biên dịch — không so sánh công bằng được.</a:t>
            </a:r>
            <a:endParaRPr lang="en-US" sz="1250" dirty="0"/>
          </a:p>
        </p:txBody>
      </p:sp>
      <p:sp>
        <p:nvSpPr>
          <p:cNvPr id="11" name="Shape 9"/>
          <p:cNvSpPr/>
          <p:nvPr/>
        </p:nvSpPr>
        <p:spPr>
          <a:xfrm>
            <a:off x="4306824" y="2743200"/>
            <a:ext cx="3529584" cy="2651760"/>
          </a:xfrm>
          <a:prstGeom prst="roundRect">
            <a:avLst>
              <a:gd name="adj" fmla="val 4138"/>
            </a:avLst>
          </a:prstGeom>
          <a:solidFill>
            <a:srgbClr val="F4F6FC"/>
          </a:solidFill>
          <a:ln/>
        </p:spPr>
      </p:sp>
      <p:sp>
        <p:nvSpPr>
          <p:cNvPr id="12" name="Shape 10"/>
          <p:cNvSpPr/>
          <p:nvPr/>
        </p:nvSpPr>
        <p:spPr>
          <a:xfrm>
            <a:off x="4581144" y="3017520"/>
            <a:ext cx="502920" cy="502920"/>
          </a:xfrm>
          <a:prstGeom prst="ellipse">
            <a:avLst/>
          </a:prstGeom>
          <a:solidFill>
            <a:srgbClr val="1E2761"/>
          </a:solidFill>
          <a:ln/>
        </p:spPr>
      </p:sp>
      <p:sp>
        <p:nvSpPr>
          <p:cNvPr id="13" name="Text 11"/>
          <p:cNvSpPr/>
          <p:nvPr/>
        </p:nvSpPr>
        <p:spPr>
          <a:xfrm>
            <a:off x="4581144" y="301752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p:nvPr/>
        </p:nvSpPr>
        <p:spPr>
          <a:xfrm>
            <a:off x="4581144" y="3703320"/>
            <a:ext cx="2980944"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Ẩn ở dữ liệu nhỏ</a:t>
            </a:r>
            <a:endParaRPr lang="en-US" sz="1600" dirty="0"/>
          </a:p>
        </p:txBody>
      </p:sp>
      <p:sp>
        <p:nvSpPr>
          <p:cNvPr id="15" name="Text 13"/>
          <p:cNvSpPr/>
          <p:nvPr/>
        </p:nvSpPr>
        <p:spPr>
          <a:xfrm>
            <a:off x="4581144" y="4160520"/>
            <a:ext cx="2980944" cy="1051560"/>
          </a:xfrm>
          <a:prstGeom prst="rect">
            <a:avLst/>
          </a:prstGeom>
          <a:noFill/>
          <a:ln/>
        </p:spPr>
        <p:txBody>
          <a:bodyPr wrap="square"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Với n nhỏ, thuật toán tệ vẫn chạy nhanh; khác biệt chỉ lộ rõ khi dữ liệu lớn dần.</a:t>
            </a:r>
            <a:endParaRPr lang="en-US" sz="1250" dirty="0"/>
          </a:p>
        </p:txBody>
      </p:sp>
      <p:sp>
        <p:nvSpPr>
          <p:cNvPr id="16" name="Shape 14"/>
          <p:cNvSpPr/>
          <p:nvPr/>
        </p:nvSpPr>
        <p:spPr>
          <a:xfrm>
            <a:off x="8156448" y="2743200"/>
            <a:ext cx="3529584" cy="2651760"/>
          </a:xfrm>
          <a:prstGeom prst="roundRect">
            <a:avLst>
              <a:gd name="adj" fmla="val 4138"/>
            </a:avLst>
          </a:prstGeom>
          <a:solidFill>
            <a:srgbClr val="F4F6FC"/>
          </a:solidFill>
          <a:ln/>
        </p:spPr>
      </p:sp>
      <p:sp>
        <p:nvSpPr>
          <p:cNvPr id="17" name="Shape 15"/>
          <p:cNvSpPr/>
          <p:nvPr/>
        </p:nvSpPr>
        <p:spPr>
          <a:xfrm>
            <a:off x="8430768" y="3017520"/>
            <a:ext cx="502920" cy="502920"/>
          </a:xfrm>
          <a:prstGeom prst="ellipse">
            <a:avLst/>
          </a:prstGeom>
          <a:solidFill>
            <a:srgbClr val="1E2761"/>
          </a:solidFill>
          <a:ln/>
        </p:spPr>
      </p:sp>
      <p:sp>
        <p:nvSpPr>
          <p:cNvPr id="18" name="Text 16"/>
          <p:cNvSpPr/>
          <p:nvPr/>
        </p:nvSpPr>
        <p:spPr>
          <a:xfrm>
            <a:off x="8430768" y="301752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8430768" y="3703320"/>
            <a:ext cx="2980944"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Cần thước đo chung</a:t>
            </a:r>
            <a:endParaRPr lang="en-US" sz="1600" dirty="0"/>
          </a:p>
        </p:txBody>
      </p:sp>
      <p:sp>
        <p:nvSpPr>
          <p:cNvPr id="20" name="Text 18"/>
          <p:cNvSpPr/>
          <p:nvPr/>
        </p:nvSpPr>
        <p:spPr>
          <a:xfrm>
            <a:off x="8430768" y="4160520"/>
            <a:ext cx="2980944" cy="1051560"/>
          </a:xfrm>
          <a:prstGeom prst="rect">
            <a:avLst/>
          </a:prstGeom>
          <a:noFill/>
          <a:ln/>
        </p:spPr>
        <p:txBody>
          <a:bodyPr wrap="square" rtlCol="0" anchor="ctr"/>
          <a:lstStyle/>
          <a:p>
            <a:pPr marL="0" indent="0">
              <a:lnSpc>
                <a:spcPct val="120000"/>
              </a:lnSpc>
              <a:buNone/>
            </a:pPr>
            <a:r>
              <a:rPr lang="en-US" sz="1250" dirty="0">
                <a:solidFill>
                  <a:srgbClr val="1B2340"/>
                </a:solidFill>
                <a:latin typeface="Calibri" pitchFamily="34" charset="0"/>
                <a:ea typeface="Calibri" pitchFamily="34" charset="-122"/>
                <a:cs typeface="Calibri" pitchFamily="34" charset="-120"/>
              </a:rPr>
              <a:t>Độ phức tạp đếm số bước tính toán theo n — độc lập phần cứng, so sánh được mọi lúc.</a:t>
            </a:r>
            <a:endParaRPr lang="en-US" sz="1250" dirty="0"/>
          </a:p>
        </p:txBody>
      </p:sp>
      <p:sp>
        <p:nvSpPr>
          <p:cNvPr id="21" name="Text 19"/>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2</a:t>
            </a:r>
            <a:endParaRPr lang="en-US" sz="1000" dirty="0"/>
          </a:p>
        </p:txBody>
      </p:sp>
      <p:sp>
        <p:nvSpPr>
          <p:cNvPr id="22" name="Text 20"/>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KHÁI NIỆM</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Độ phức tạp thời gian là gì?</a:t>
            </a:r>
            <a:endParaRPr lang="en-US" sz="3000" dirty="0"/>
          </a:p>
        </p:txBody>
      </p:sp>
      <p:sp>
        <p:nvSpPr>
          <p:cNvPr id="5" name="Text 3"/>
          <p:cNvSpPr/>
          <p:nvPr/>
        </p:nvSpPr>
        <p:spPr>
          <a:xfrm>
            <a:off x="457200" y="1691640"/>
            <a:ext cx="5212080" cy="1188720"/>
          </a:xfrm>
          <a:prstGeom prst="rect">
            <a:avLst/>
          </a:prstGeom>
          <a:noFill/>
          <a:ln/>
        </p:spPr>
        <p:txBody>
          <a:bodyPr wrap="square" rtlCol="0" anchor="ctr"/>
          <a:lstStyle/>
          <a:p>
            <a:pPr marL="0" indent="0">
              <a:lnSpc>
                <a:spcPct val="130000"/>
              </a:lnSpc>
              <a:buNone/>
            </a:pPr>
            <a:r>
              <a:rPr lang="en-US" sz="1400" dirty="0">
                <a:solidFill>
                  <a:srgbClr val="1B2340"/>
                </a:solidFill>
                <a:latin typeface="Calibri" pitchFamily="34" charset="0"/>
                <a:ea typeface="Calibri" pitchFamily="34" charset="-122"/>
                <a:cs typeface="Calibri" pitchFamily="34" charset="-120"/>
              </a:rPr>
              <a:t>Là một hàm số biểu diễn số phép toán cơ bản (so sánh, gán, cộng trừ...) mà thuật toán thực hiện, tính theo kích thước đầu vào n.</a:t>
            </a:r>
            <a:endParaRPr lang="en-US" sz="1400" dirty="0"/>
          </a:p>
        </p:txBody>
      </p:sp>
      <p:sp>
        <p:nvSpPr>
          <p:cNvPr id="6" name="Shape 4"/>
          <p:cNvSpPr/>
          <p:nvPr/>
        </p:nvSpPr>
        <p:spPr>
          <a:xfrm>
            <a:off x="457200" y="2971800"/>
            <a:ext cx="5212080" cy="2377440"/>
          </a:xfrm>
          <a:prstGeom prst="roundRect">
            <a:avLst>
              <a:gd name="adj" fmla="val 3846"/>
            </a:avLst>
          </a:prstGeom>
          <a:solidFill>
            <a:srgbClr val="1E2761"/>
          </a:solidFill>
          <a:ln/>
        </p:spPr>
      </p:sp>
      <p:sp>
        <p:nvSpPr>
          <p:cNvPr id="7" name="Text 5"/>
          <p:cNvSpPr/>
          <p:nvPr/>
        </p:nvSpPr>
        <p:spPr>
          <a:xfrm>
            <a:off x="731520" y="3200400"/>
            <a:ext cx="4663440" cy="1920240"/>
          </a:xfrm>
          <a:prstGeom prst="rect">
            <a:avLst/>
          </a:prstGeom>
          <a:noFill/>
          <a:ln/>
        </p:spPr>
        <p:txBody>
          <a:bodyPr wrap="square" rtlCol="0" anchor="ctr"/>
          <a:lstStyle/>
          <a:p>
            <a:pPr marL="0" indent="0">
              <a:lnSpc>
                <a:spcPct val="120000"/>
              </a:lnSpc>
              <a:buNone/>
            </a:pPr>
            <a:r>
              <a:rPr lang="en-US" sz="1150" b="1" dirty="0">
                <a:solidFill>
                  <a:srgbClr val="F2B134"/>
                </a:solidFill>
                <a:latin typeface="Consolas" pitchFamily="34" charset="0"/>
                <a:ea typeface="Consolas" pitchFamily="34" charset="-122"/>
                <a:cs typeface="Consolas" pitchFamily="34" charset="-120"/>
              </a:rPr>
              <a:t>def tong(arr):
</a:t>
            </a:r>
            <a:r>
              <a:rPr lang="en-US" sz="1150" dirty="0">
                <a:solidFill>
                  <a:srgbClr val="FFFFFF"/>
                </a:solidFill>
                <a:latin typeface="Consolas" pitchFamily="34" charset="0"/>
                <a:ea typeface="Consolas" pitchFamily="34" charset="-122"/>
                <a:cs typeface="Consolas" pitchFamily="34" charset="-120"/>
              </a:rPr>
              <a:t>    s = 0</a:t>
            </a:r>
            <a:r>
              <a:rPr lang="en-US" sz="1150" i="1" dirty="0">
                <a:solidFill>
                  <a:srgbClr val="CADCFC"/>
                </a:solidFill>
                <a:latin typeface="Consolas" pitchFamily="34" charset="0"/>
                <a:ea typeface="Consolas" pitchFamily="34" charset="-122"/>
                <a:cs typeface="Consolas" pitchFamily="34" charset="-120"/>
              </a:rPr>
              <a:t>                  # 1 phép gán
</a:t>
            </a:r>
            <a:r>
              <a:rPr lang="en-US" sz="1150" dirty="0">
                <a:solidFill>
                  <a:srgbClr val="FFFFFF"/>
                </a:solidFill>
                <a:latin typeface="Consolas" pitchFamily="34" charset="0"/>
                <a:ea typeface="Consolas" pitchFamily="34" charset="-122"/>
                <a:cs typeface="Consolas" pitchFamily="34" charset="-120"/>
              </a:rPr>
              <a:t>    for x in arr:</a:t>
            </a:r>
            <a:r>
              <a:rPr lang="en-US" sz="1150" i="1" dirty="0">
                <a:solidFill>
                  <a:srgbClr val="CADCFC"/>
                </a:solidFill>
                <a:latin typeface="Consolas" pitchFamily="34" charset="0"/>
                <a:ea typeface="Consolas" pitchFamily="34" charset="-122"/>
                <a:cs typeface="Consolas" pitchFamily="34" charset="-120"/>
              </a:rPr>
              <a:t>       # lặp n lần
</a:t>
            </a:r>
            <a:r>
              <a:rPr lang="en-US" sz="1150" dirty="0">
                <a:solidFill>
                  <a:srgbClr val="FFFFFF"/>
                </a:solidFill>
                <a:latin typeface="Consolas" pitchFamily="34" charset="0"/>
                <a:ea typeface="Consolas" pitchFamily="34" charset="-122"/>
                <a:cs typeface="Consolas" pitchFamily="34" charset="-120"/>
              </a:rPr>
              <a:t>        s += x</a:t>
            </a:r>
            <a:r>
              <a:rPr lang="en-US" sz="1150" i="1" dirty="0">
                <a:solidFill>
                  <a:srgbClr val="CADCFC"/>
                </a:solidFill>
                <a:latin typeface="Consolas" pitchFamily="34" charset="0"/>
                <a:ea typeface="Consolas" pitchFamily="34" charset="-122"/>
                <a:cs typeface="Consolas" pitchFamily="34" charset="-120"/>
              </a:rPr>
              <a:t>         # +1, gán
</a:t>
            </a:r>
            <a:r>
              <a:rPr lang="en-US" sz="1150" dirty="0">
                <a:solidFill>
                  <a:srgbClr val="FFFFFF"/>
                </a:solidFill>
                <a:latin typeface="Consolas" pitchFamily="34" charset="0"/>
                <a:ea typeface="Consolas" pitchFamily="34" charset="-122"/>
                <a:cs typeface="Consolas" pitchFamily="34" charset="-120"/>
              </a:rPr>
              <a:t>    return s</a:t>
            </a:r>
            <a:endParaRPr lang="en-US" sz="1150" dirty="0"/>
          </a:p>
        </p:txBody>
      </p:sp>
      <p:sp>
        <p:nvSpPr>
          <p:cNvPr id="8" name="Text 6"/>
          <p:cNvSpPr/>
          <p:nvPr/>
        </p:nvSpPr>
        <p:spPr>
          <a:xfrm>
            <a:off x="5943600" y="1828800"/>
            <a:ext cx="576072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Số phép toán ≈ 2n + 2</a:t>
            </a:r>
            <a:endParaRPr lang="en-US" sz="2000" dirty="0"/>
          </a:p>
        </p:txBody>
      </p:sp>
      <p:sp>
        <p:nvSpPr>
          <p:cNvPr id="9" name="Text 7"/>
          <p:cNvSpPr/>
          <p:nvPr/>
        </p:nvSpPr>
        <p:spPr>
          <a:xfrm>
            <a:off x="5943600" y="2331720"/>
            <a:ext cx="5760720" cy="640080"/>
          </a:xfrm>
          <a:prstGeom prst="rect">
            <a:avLst/>
          </a:prstGeom>
          <a:noFill/>
          <a:ln/>
        </p:spPr>
        <p:txBody>
          <a:bodyPr wrap="square" rtlCol="0" anchor="ctr"/>
          <a:lstStyle/>
          <a:p>
            <a:pPr marL="0" indent="0">
              <a:lnSpc>
                <a:spcPct val="125000"/>
              </a:lnSpc>
              <a:buNone/>
            </a:pPr>
            <a:r>
              <a:rPr lang="en-US" sz="1350" dirty="0">
                <a:solidFill>
                  <a:srgbClr val="1B2340"/>
                </a:solidFill>
                <a:latin typeface="Calibri" pitchFamily="34" charset="0"/>
                <a:ea typeface="Calibri" pitchFamily="34" charset="-122"/>
                <a:cs typeface="Calibri" pitchFamily="34" charset="-120"/>
              </a:rPr>
              <a:t>Khi n → ∞, hằng số “+2” trở nên không đáng kể. Phần “2n” quyết định tốc độ tăng trưởng.</a:t>
            </a:r>
            <a:endParaRPr lang="en-US" sz="1350" dirty="0"/>
          </a:p>
        </p:txBody>
      </p:sp>
      <p:sp>
        <p:nvSpPr>
          <p:cNvPr id="10" name="Shape 8"/>
          <p:cNvSpPr/>
          <p:nvPr/>
        </p:nvSpPr>
        <p:spPr>
          <a:xfrm>
            <a:off x="5943600" y="3200400"/>
            <a:ext cx="5760720" cy="1234440"/>
          </a:xfrm>
          <a:prstGeom prst="roundRect">
            <a:avLst>
              <a:gd name="adj" fmla="val 8889"/>
            </a:avLst>
          </a:prstGeom>
          <a:solidFill>
            <a:srgbClr val="F4F6FC"/>
          </a:solidFill>
          <a:ln/>
        </p:spPr>
      </p:sp>
      <p:sp>
        <p:nvSpPr>
          <p:cNvPr id="11" name="Text 9"/>
          <p:cNvSpPr/>
          <p:nvPr/>
        </p:nvSpPr>
        <p:spPr>
          <a:xfrm>
            <a:off x="6217920" y="3200400"/>
            <a:ext cx="5212080" cy="123444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 Ta nói thuật toán này có độ phức tạp O(n)</a:t>
            </a:r>
            <a:endParaRPr lang="en-US" sz="1700" dirty="0"/>
          </a:p>
        </p:txBody>
      </p:sp>
      <p:sp>
        <p:nvSpPr>
          <p:cNvPr id="12" name="Text 10"/>
          <p:cNvSpPr/>
          <p:nvPr/>
        </p:nvSpPr>
        <p:spPr>
          <a:xfrm>
            <a:off x="5943600" y="4663440"/>
            <a:ext cx="5760720" cy="731520"/>
          </a:xfrm>
          <a:prstGeom prst="rect">
            <a:avLst/>
          </a:prstGeom>
          <a:noFill/>
          <a:ln/>
        </p:spPr>
        <p:txBody>
          <a:bodyPr wrap="square" rtlCol="0" anchor="ctr"/>
          <a:lstStyle/>
          <a:p>
            <a:pPr marL="0" indent="0">
              <a:lnSpc>
                <a:spcPct val="125000"/>
              </a:lnSpc>
              <a:buNone/>
            </a:pPr>
            <a:r>
              <a:rPr lang="en-US" sz="1300" i="1" dirty="0">
                <a:solidFill>
                  <a:srgbClr val="5B6B8C"/>
                </a:solidFill>
                <a:latin typeface="Calibri" pitchFamily="34" charset="0"/>
                <a:ea typeface="Calibri" pitchFamily="34" charset="-122"/>
                <a:cs typeface="Calibri" pitchFamily="34" charset="-120"/>
              </a:rPr>
              <a:t>Điểm mấu chốt: chỉ quan tâm tốc độ tăng trưởng khi n rất lớn — bỏ qua hằng số và số hạng bậc thấp.</a:t>
            </a:r>
            <a:endParaRPr lang="en-US" sz="1300" dirty="0"/>
          </a:p>
        </p:txBody>
      </p:sp>
      <p:sp>
        <p:nvSpPr>
          <p:cNvPr id="13" name="Text 11"/>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KÝ HIỆU</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Ký hiệu Big O (O-lớn)</a:t>
            </a:r>
            <a:endParaRPr lang="en-US" sz="3000" dirty="0"/>
          </a:p>
        </p:txBody>
      </p:sp>
      <p:sp>
        <p:nvSpPr>
          <p:cNvPr id="5" name="Text 3"/>
          <p:cNvSpPr/>
          <p:nvPr/>
        </p:nvSpPr>
        <p:spPr>
          <a:xfrm>
            <a:off x="457200" y="1691640"/>
            <a:ext cx="11274552" cy="640080"/>
          </a:xfrm>
          <a:prstGeom prst="rect">
            <a:avLst/>
          </a:prstGeom>
          <a:noFill/>
          <a:ln/>
        </p:spPr>
        <p:txBody>
          <a:bodyPr wrap="square" rtlCol="0" anchor="ctr"/>
          <a:lstStyle/>
          <a:p>
            <a:pPr marL="0" indent="0">
              <a:lnSpc>
                <a:spcPct val="125000"/>
              </a:lnSpc>
              <a:buNone/>
            </a:pPr>
            <a:r>
              <a:rPr lang="en-US" sz="1400" dirty="0">
                <a:solidFill>
                  <a:srgbClr val="1B2340"/>
                </a:solidFill>
                <a:latin typeface="Calibri" pitchFamily="34" charset="0"/>
                <a:ea typeface="Calibri" pitchFamily="34" charset="-122"/>
                <a:cs typeface="Calibri" pitchFamily="34" charset="-120"/>
              </a:rPr>
              <a:t>Big O mô tả giới hạn trên (cận trên / worst case) của độ phức tạp — thuật toán không chậm hơn mức này khi n đủ lớn.</a:t>
            </a:r>
            <a:endParaRPr lang="en-US" sz="1400" dirty="0"/>
          </a:p>
        </p:txBody>
      </p:sp>
      <p:sp>
        <p:nvSpPr>
          <p:cNvPr id="6" name="Shape 4"/>
          <p:cNvSpPr/>
          <p:nvPr/>
        </p:nvSpPr>
        <p:spPr>
          <a:xfrm>
            <a:off x="457200" y="2468880"/>
            <a:ext cx="5577840" cy="1737360"/>
          </a:xfrm>
          <a:prstGeom prst="roundRect">
            <a:avLst>
              <a:gd name="adj" fmla="val 5263"/>
            </a:avLst>
          </a:prstGeom>
          <a:solidFill>
            <a:srgbClr val="1E2761"/>
          </a:solidFill>
          <a:ln/>
        </p:spPr>
      </p:sp>
      <p:sp>
        <p:nvSpPr>
          <p:cNvPr id="7" name="Text 5"/>
          <p:cNvSpPr/>
          <p:nvPr/>
        </p:nvSpPr>
        <p:spPr>
          <a:xfrm>
            <a:off x="731520" y="2606040"/>
            <a:ext cx="5029200" cy="502920"/>
          </a:xfrm>
          <a:prstGeom prst="rect">
            <a:avLst/>
          </a:prstGeom>
          <a:noFill/>
          <a:ln/>
        </p:spPr>
        <p:txBody>
          <a:bodyPr wrap="square" rtlCol="0" anchor="ctr"/>
          <a:lstStyle/>
          <a:p>
            <a:pPr marL="0" indent="0">
              <a:buNone/>
            </a:pPr>
            <a:r>
              <a:rPr lang="en-US" sz="2000" b="1" dirty="0">
                <a:solidFill>
                  <a:srgbClr val="F2B134"/>
                </a:solidFill>
                <a:latin typeface="Calibri" pitchFamily="34" charset="0"/>
                <a:ea typeface="Calibri" pitchFamily="34" charset="-122"/>
                <a:cs typeface="Calibri" pitchFamily="34" charset="-120"/>
              </a:rPr>
              <a:t>f(n) = O(g(n))</a:t>
            </a:r>
            <a:endParaRPr lang="en-US" sz="2000" dirty="0"/>
          </a:p>
        </p:txBody>
      </p:sp>
      <p:sp>
        <p:nvSpPr>
          <p:cNvPr id="8" name="Text 6"/>
          <p:cNvSpPr/>
          <p:nvPr/>
        </p:nvSpPr>
        <p:spPr>
          <a:xfrm>
            <a:off x="731520" y="3063240"/>
            <a:ext cx="5029200" cy="32004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nếu tồn tại c &gt; 0 và n₀ sao cho:</a:t>
            </a:r>
            <a:endParaRPr lang="en-US" sz="1250" dirty="0"/>
          </a:p>
        </p:txBody>
      </p:sp>
      <p:sp>
        <p:nvSpPr>
          <p:cNvPr id="9" name="Text 7"/>
          <p:cNvSpPr/>
          <p:nvPr/>
        </p:nvSpPr>
        <p:spPr>
          <a:xfrm>
            <a:off x="731520" y="3383280"/>
            <a:ext cx="5029200" cy="502920"/>
          </a:xfrm>
          <a:prstGeom prst="rect">
            <a:avLst/>
          </a:prstGeom>
          <a:noFill/>
          <a:ln/>
        </p:spPr>
        <p:txBody>
          <a:bodyPr wrap="square"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f(n) ≤ c · g(n)   với mọi n ≥ n₀</a:t>
            </a:r>
            <a:endParaRPr lang="en-US" sz="1500" dirty="0"/>
          </a:p>
        </p:txBody>
      </p:sp>
      <p:sp>
        <p:nvSpPr>
          <p:cNvPr id="10" name="Text 8"/>
          <p:cNvSpPr/>
          <p:nvPr/>
        </p:nvSpPr>
        <p:spPr>
          <a:xfrm>
            <a:off x="457200" y="4343400"/>
            <a:ext cx="5577840" cy="822960"/>
          </a:xfrm>
          <a:prstGeom prst="rect">
            <a:avLst/>
          </a:prstGeom>
          <a:noFill/>
          <a:ln/>
        </p:spPr>
        <p:txBody>
          <a:bodyPr wrap="square" rtlCol="0" anchor="ctr"/>
          <a:lstStyle/>
          <a:p>
            <a:pPr marL="0" indent="0">
              <a:lnSpc>
                <a:spcPct val="125000"/>
              </a:lnSpc>
              <a:buNone/>
            </a:pPr>
            <a:r>
              <a:rPr lang="en-US" sz="1300" i="1" dirty="0">
                <a:solidFill>
                  <a:srgbClr val="5B6B8C"/>
                </a:solidFill>
                <a:latin typeface="Calibri" pitchFamily="34" charset="0"/>
                <a:ea typeface="Calibri" pitchFamily="34" charset="-122"/>
                <a:cs typeface="Calibri" pitchFamily="34" charset="-120"/>
              </a:rPr>
              <a:t>Nói đơn giản: f(n) không tăng nhanh hơn g(n) một cách “về bản chất” (bỏ qua hệ số nhân).</a:t>
            </a:r>
            <a:endParaRPr lang="en-US" sz="1300" dirty="0"/>
          </a:p>
        </p:txBody>
      </p:sp>
      <p:sp>
        <p:nvSpPr>
          <p:cNvPr id="11" name="Text 9"/>
          <p:cNvSpPr/>
          <p:nvPr/>
        </p:nvSpPr>
        <p:spPr>
          <a:xfrm>
            <a:off x="6400800" y="1691640"/>
            <a:ext cx="53035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Ví dụ rút gọn</a:t>
            </a:r>
            <a:endParaRPr lang="en-US" sz="1500" dirty="0"/>
          </a:p>
        </p:txBody>
      </p:sp>
      <p:sp>
        <p:nvSpPr>
          <p:cNvPr id="12" name="Shape 10"/>
          <p:cNvSpPr/>
          <p:nvPr/>
        </p:nvSpPr>
        <p:spPr>
          <a:xfrm>
            <a:off x="6400800" y="2194560"/>
            <a:ext cx="5303520" cy="621792"/>
          </a:xfrm>
          <a:prstGeom prst="roundRect">
            <a:avLst>
              <a:gd name="adj" fmla="val 11765"/>
            </a:avLst>
          </a:prstGeom>
          <a:solidFill>
            <a:srgbClr val="F4F6FC"/>
          </a:solidFill>
          <a:ln/>
        </p:spPr>
      </p:sp>
      <p:sp>
        <p:nvSpPr>
          <p:cNvPr id="13" name="Text 11"/>
          <p:cNvSpPr/>
          <p:nvPr/>
        </p:nvSpPr>
        <p:spPr>
          <a:xfrm>
            <a:off x="6629400" y="2194560"/>
            <a:ext cx="2926080" cy="621792"/>
          </a:xfrm>
          <a:prstGeom prst="rect">
            <a:avLst/>
          </a:prstGeom>
          <a:noFill/>
          <a:ln/>
        </p:spPr>
        <p:txBody>
          <a:bodyPr wrap="square" rtlCol="0" anchor="ctr"/>
          <a:lstStyle/>
          <a:p>
            <a:pPr marL="0" indent="0">
              <a:buNone/>
            </a:pPr>
            <a:r>
              <a:rPr lang="en-US" sz="1400" dirty="0">
                <a:solidFill>
                  <a:srgbClr val="1B2340"/>
                </a:solidFill>
                <a:latin typeface="Consolas" pitchFamily="34" charset="0"/>
                <a:ea typeface="Consolas" pitchFamily="34" charset="-122"/>
                <a:cs typeface="Consolas" pitchFamily="34" charset="-120"/>
              </a:rPr>
              <a:t>3n + 5</a:t>
            </a:r>
            <a:endParaRPr lang="en-US" sz="1400" dirty="0"/>
          </a:p>
        </p:txBody>
      </p:sp>
      <p:sp>
        <p:nvSpPr>
          <p:cNvPr id="14" name="Text 12"/>
          <p:cNvSpPr/>
          <p:nvPr/>
        </p:nvSpPr>
        <p:spPr>
          <a:xfrm>
            <a:off x="9464040" y="2194560"/>
            <a:ext cx="365760" cy="621792"/>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9829800" y="2194560"/>
            <a:ext cx="1737360" cy="621792"/>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O(n)</a:t>
            </a:r>
            <a:endParaRPr lang="en-US" sz="1500" dirty="0"/>
          </a:p>
        </p:txBody>
      </p:sp>
      <p:sp>
        <p:nvSpPr>
          <p:cNvPr id="16" name="Shape 14"/>
          <p:cNvSpPr/>
          <p:nvPr/>
        </p:nvSpPr>
        <p:spPr>
          <a:xfrm>
            <a:off x="6400800" y="2971800"/>
            <a:ext cx="5303520" cy="621792"/>
          </a:xfrm>
          <a:prstGeom prst="roundRect">
            <a:avLst>
              <a:gd name="adj" fmla="val 11765"/>
            </a:avLst>
          </a:prstGeom>
          <a:solidFill>
            <a:srgbClr val="F4F6FC"/>
          </a:solidFill>
          <a:ln/>
        </p:spPr>
      </p:sp>
      <p:sp>
        <p:nvSpPr>
          <p:cNvPr id="17" name="Text 15"/>
          <p:cNvSpPr/>
          <p:nvPr/>
        </p:nvSpPr>
        <p:spPr>
          <a:xfrm>
            <a:off x="6629400" y="2971800"/>
            <a:ext cx="2926080" cy="621792"/>
          </a:xfrm>
          <a:prstGeom prst="rect">
            <a:avLst/>
          </a:prstGeom>
          <a:noFill/>
          <a:ln/>
        </p:spPr>
        <p:txBody>
          <a:bodyPr wrap="square" rtlCol="0" anchor="ctr"/>
          <a:lstStyle/>
          <a:p>
            <a:pPr marL="0" indent="0">
              <a:buNone/>
            </a:pPr>
            <a:r>
              <a:rPr lang="en-US" sz="1400" dirty="0">
                <a:solidFill>
                  <a:srgbClr val="1B2340"/>
                </a:solidFill>
                <a:latin typeface="Consolas" pitchFamily="34" charset="0"/>
                <a:ea typeface="Consolas" pitchFamily="34" charset="-122"/>
                <a:cs typeface="Consolas" pitchFamily="34" charset="-120"/>
              </a:rPr>
              <a:t>5n² + 2n + 100</a:t>
            </a:r>
            <a:endParaRPr lang="en-US" sz="1400" dirty="0"/>
          </a:p>
        </p:txBody>
      </p:sp>
      <p:sp>
        <p:nvSpPr>
          <p:cNvPr id="18" name="Text 16"/>
          <p:cNvSpPr/>
          <p:nvPr/>
        </p:nvSpPr>
        <p:spPr>
          <a:xfrm>
            <a:off x="9464040" y="2971800"/>
            <a:ext cx="365760" cy="621792"/>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9829800" y="2971800"/>
            <a:ext cx="1737360" cy="621792"/>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O(n²)</a:t>
            </a:r>
            <a:endParaRPr lang="en-US" sz="1500" dirty="0"/>
          </a:p>
        </p:txBody>
      </p:sp>
      <p:sp>
        <p:nvSpPr>
          <p:cNvPr id="20" name="Shape 18"/>
          <p:cNvSpPr/>
          <p:nvPr/>
        </p:nvSpPr>
        <p:spPr>
          <a:xfrm>
            <a:off x="6400800" y="3749040"/>
            <a:ext cx="5303520" cy="621792"/>
          </a:xfrm>
          <a:prstGeom prst="roundRect">
            <a:avLst>
              <a:gd name="adj" fmla="val 11765"/>
            </a:avLst>
          </a:prstGeom>
          <a:solidFill>
            <a:srgbClr val="F4F6FC"/>
          </a:solidFill>
          <a:ln/>
        </p:spPr>
      </p:sp>
      <p:sp>
        <p:nvSpPr>
          <p:cNvPr id="21" name="Text 19"/>
          <p:cNvSpPr/>
          <p:nvPr/>
        </p:nvSpPr>
        <p:spPr>
          <a:xfrm>
            <a:off x="6629400" y="3749040"/>
            <a:ext cx="2926080" cy="621792"/>
          </a:xfrm>
          <a:prstGeom prst="rect">
            <a:avLst/>
          </a:prstGeom>
          <a:noFill/>
          <a:ln/>
        </p:spPr>
        <p:txBody>
          <a:bodyPr wrap="square" rtlCol="0" anchor="ctr"/>
          <a:lstStyle/>
          <a:p>
            <a:pPr marL="0" indent="0">
              <a:buNone/>
            </a:pPr>
            <a:r>
              <a:rPr lang="en-US" sz="1400" dirty="0">
                <a:solidFill>
                  <a:srgbClr val="1B2340"/>
                </a:solidFill>
                <a:latin typeface="Consolas" pitchFamily="34" charset="0"/>
                <a:ea typeface="Consolas" pitchFamily="34" charset="-122"/>
                <a:cs typeface="Consolas" pitchFamily="34" charset="-120"/>
              </a:rPr>
              <a:t>100</a:t>
            </a:r>
            <a:endParaRPr lang="en-US" sz="1400" dirty="0"/>
          </a:p>
        </p:txBody>
      </p:sp>
      <p:sp>
        <p:nvSpPr>
          <p:cNvPr id="22" name="Text 20"/>
          <p:cNvSpPr/>
          <p:nvPr/>
        </p:nvSpPr>
        <p:spPr>
          <a:xfrm>
            <a:off x="9464040" y="3749040"/>
            <a:ext cx="365760" cy="621792"/>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9829800" y="3749040"/>
            <a:ext cx="1737360" cy="621792"/>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O(1)</a:t>
            </a:r>
            <a:endParaRPr lang="en-US" sz="1500" dirty="0"/>
          </a:p>
        </p:txBody>
      </p:sp>
      <p:sp>
        <p:nvSpPr>
          <p:cNvPr id="24" name="Text 22"/>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KÝ HIỆU</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Big O, Big Omega, Big Theta</a:t>
            </a:r>
            <a:endParaRPr lang="en-US" sz="3000" dirty="0"/>
          </a:p>
        </p:txBody>
      </p:sp>
      <p:sp>
        <p:nvSpPr>
          <p:cNvPr id="5" name="Shape 3"/>
          <p:cNvSpPr/>
          <p:nvPr/>
        </p:nvSpPr>
        <p:spPr>
          <a:xfrm>
            <a:off x="457200" y="1783080"/>
            <a:ext cx="3529584" cy="3566160"/>
          </a:xfrm>
          <a:prstGeom prst="roundRect">
            <a:avLst>
              <a:gd name="adj" fmla="val 3627"/>
            </a:avLst>
          </a:prstGeom>
          <a:solidFill>
            <a:srgbClr val="1E2761"/>
          </a:solidFill>
          <a:ln/>
        </p:spPr>
      </p:sp>
      <p:sp>
        <p:nvSpPr>
          <p:cNvPr id="6" name="Text 4"/>
          <p:cNvSpPr/>
          <p:nvPr/>
        </p:nvSpPr>
        <p:spPr>
          <a:xfrm>
            <a:off x="457200" y="2011680"/>
            <a:ext cx="3529584" cy="100584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O</a:t>
            </a:r>
            <a:endParaRPr lang="en-US" sz="5400" dirty="0"/>
          </a:p>
        </p:txBody>
      </p:sp>
      <p:sp>
        <p:nvSpPr>
          <p:cNvPr id="7" name="Text 5"/>
          <p:cNvSpPr/>
          <p:nvPr/>
        </p:nvSpPr>
        <p:spPr>
          <a:xfrm>
            <a:off x="457200" y="3017520"/>
            <a:ext cx="3529584" cy="365760"/>
          </a:xfrm>
          <a:prstGeom prst="rect">
            <a:avLst/>
          </a:prstGeom>
          <a:noFill/>
          <a:ln/>
        </p:spPr>
        <p:txBody>
          <a:bodyPr wrap="square" rtlCol="0" anchor="ctr"/>
          <a:lstStyle/>
          <a:p>
            <a:pPr marL="0" indent="0" algn="ctr">
              <a:buNone/>
            </a:pPr>
            <a:r>
              <a:rPr lang="en-US" sz="1600" b="1" dirty="0">
                <a:solidFill>
                  <a:srgbClr val="F2B134"/>
                </a:solidFill>
                <a:latin typeface="Calibri" pitchFamily="34" charset="0"/>
                <a:ea typeface="Calibri" pitchFamily="34" charset="-122"/>
                <a:cs typeface="Calibri" pitchFamily="34" charset="-120"/>
              </a:rPr>
              <a:t>Big O</a:t>
            </a:r>
            <a:endParaRPr lang="en-US" sz="1600" dirty="0"/>
          </a:p>
        </p:txBody>
      </p:sp>
      <p:sp>
        <p:nvSpPr>
          <p:cNvPr id="8" name="Text 6"/>
          <p:cNvSpPr/>
          <p:nvPr/>
        </p:nvSpPr>
        <p:spPr>
          <a:xfrm>
            <a:off x="777240" y="3474720"/>
            <a:ext cx="2889504"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Cận trên</a:t>
            </a:r>
            <a:endParaRPr lang="en-US" sz="1300" dirty="0"/>
          </a:p>
        </p:txBody>
      </p:sp>
      <p:sp>
        <p:nvSpPr>
          <p:cNvPr id="9" name="Text 7"/>
          <p:cNvSpPr/>
          <p:nvPr/>
        </p:nvSpPr>
        <p:spPr>
          <a:xfrm>
            <a:off x="777240" y="3840480"/>
            <a:ext cx="2889504" cy="54864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Trường hợp xấu nhất</a:t>
            </a:r>
            <a:endParaRPr lang="en-US" sz="1150" dirty="0"/>
          </a:p>
        </p:txBody>
      </p:sp>
      <p:sp>
        <p:nvSpPr>
          <p:cNvPr id="10" name="Shape 8"/>
          <p:cNvSpPr/>
          <p:nvPr/>
        </p:nvSpPr>
        <p:spPr>
          <a:xfrm>
            <a:off x="1005840" y="4480560"/>
            <a:ext cx="2432304" cy="0"/>
          </a:xfrm>
          <a:prstGeom prst="line">
            <a:avLst/>
          </a:prstGeom>
          <a:noFill/>
          <a:ln w="9525">
            <a:solidFill>
              <a:srgbClr val="FFFFFF">
                <a:alpha val="40000"/>
              </a:srgbClr>
            </a:solidFill>
            <a:prstDash val="solid"/>
          </a:ln>
        </p:spPr>
      </p:sp>
      <p:sp>
        <p:nvSpPr>
          <p:cNvPr id="11" name="Text 9"/>
          <p:cNvSpPr/>
          <p:nvPr/>
        </p:nvSpPr>
        <p:spPr>
          <a:xfrm>
            <a:off x="777240" y="4617720"/>
            <a:ext cx="2889504" cy="548640"/>
          </a:xfrm>
          <a:prstGeom prst="rect">
            <a:avLst/>
          </a:prstGeom>
          <a:noFill/>
          <a:ln/>
        </p:spPr>
        <p:txBody>
          <a:bodyPr wrap="square"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“Chạy không quá…”</a:t>
            </a:r>
            <a:endParaRPr lang="en-US" sz="1250" dirty="0"/>
          </a:p>
        </p:txBody>
      </p:sp>
      <p:sp>
        <p:nvSpPr>
          <p:cNvPr id="12" name="Shape 10"/>
          <p:cNvSpPr/>
          <p:nvPr/>
        </p:nvSpPr>
        <p:spPr>
          <a:xfrm>
            <a:off x="4306824" y="1783080"/>
            <a:ext cx="3529584" cy="3566160"/>
          </a:xfrm>
          <a:prstGeom prst="roundRect">
            <a:avLst>
              <a:gd name="adj" fmla="val 3627"/>
            </a:avLst>
          </a:prstGeom>
          <a:solidFill>
            <a:srgbClr val="3A4A8C"/>
          </a:solidFill>
          <a:ln/>
        </p:spPr>
      </p:sp>
      <p:sp>
        <p:nvSpPr>
          <p:cNvPr id="13" name="Text 11"/>
          <p:cNvSpPr/>
          <p:nvPr/>
        </p:nvSpPr>
        <p:spPr>
          <a:xfrm>
            <a:off x="4306824" y="2011680"/>
            <a:ext cx="3529584" cy="100584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Ω</a:t>
            </a:r>
            <a:endParaRPr lang="en-US" sz="5400" dirty="0"/>
          </a:p>
        </p:txBody>
      </p:sp>
      <p:sp>
        <p:nvSpPr>
          <p:cNvPr id="14" name="Text 12"/>
          <p:cNvSpPr/>
          <p:nvPr/>
        </p:nvSpPr>
        <p:spPr>
          <a:xfrm>
            <a:off x="4306824" y="3017520"/>
            <a:ext cx="3529584" cy="365760"/>
          </a:xfrm>
          <a:prstGeom prst="rect">
            <a:avLst/>
          </a:prstGeom>
          <a:noFill/>
          <a:ln/>
        </p:spPr>
        <p:txBody>
          <a:bodyPr wrap="square" rtlCol="0" anchor="ctr"/>
          <a:lstStyle/>
          <a:p>
            <a:pPr marL="0" indent="0" algn="ctr">
              <a:buNone/>
            </a:pPr>
            <a:r>
              <a:rPr lang="en-US" sz="1600" b="1" dirty="0">
                <a:solidFill>
                  <a:srgbClr val="F2B134"/>
                </a:solidFill>
                <a:latin typeface="Calibri" pitchFamily="34" charset="0"/>
                <a:ea typeface="Calibri" pitchFamily="34" charset="-122"/>
                <a:cs typeface="Calibri" pitchFamily="34" charset="-120"/>
              </a:rPr>
              <a:t>Big Omega</a:t>
            </a:r>
            <a:endParaRPr lang="en-US" sz="1600" dirty="0"/>
          </a:p>
        </p:txBody>
      </p:sp>
      <p:sp>
        <p:nvSpPr>
          <p:cNvPr id="15" name="Text 13"/>
          <p:cNvSpPr/>
          <p:nvPr/>
        </p:nvSpPr>
        <p:spPr>
          <a:xfrm>
            <a:off x="4626864" y="3474720"/>
            <a:ext cx="2889504"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Cận dưới</a:t>
            </a:r>
            <a:endParaRPr lang="en-US" sz="1300" dirty="0"/>
          </a:p>
        </p:txBody>
      </p:sp>
      <p:sp>
        <p:nvSpPr>
          <p:cNvPr id="16" name="Text 14"/>
          <p:cNvSpPr/>
          <p:nvPr/>
        </p:nvSpPr>
        <p:spPr>
          <a:xfrm>
            <a:off x="4626864" y="3840480"/>
            <a:ext cx="2889504" cy="54864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Trường hợp tốt nhất</a:t>
            </a:r>
            <a:endParaRPr lang="en-US" sz="1150" dirty="0"/>
          </a:p>
        </p:txBody>
      </p:sp>
      <p:sp>
        <p:nvSpPr>
          <p:cNvPr id="17" name="Shape 15"/>
          <p:cNvSpPr/>
          <p:nvPr/>
        </p:nvSpPr>
        <p:spPr>
          <a:xfrm>
            <a:off x="4855464" y="4480560"/>
            <a:ext cx="2432304" cy="0"/>
          </a:xfrm>
          <a:prstGeom prst="line">
            <a:avLst/>
          </a:prstGeom>
          <a:noFill/>
          <a:ln w="9525">
            <a:solidFill>
              <a:srgbClr val="FFFFFF">
                <a:alpha val="40000"/>
              </a:srgbClr>
            </a:solidFill>
            <a:prstDash val="solid"/>
          </a:ln>
        </p:spPr>
      </p:sp>
      <p:sp>
        <p:nvSpPr>
          <p:cNvPr id="18" name="Text 16"/>
          <p:cNvSpPr/>
          <p:nvPr/>
        </p:nvSpPr>
        <p:spPr>
          <a:xfrm>
            <a:off x="4626864" y="4617720"/>
            <a:ext cx="2889504" cy="548640"/>
          </a:xfrm>
          <a:prstGeom prst="rect">
            <a:avLst/>
          </a:prstGeom>
          <a:noFill/>
          <a:ln/>
        </p:spPr>
        <p:txBody>
          <a:bodyPr wrap="square"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“Chạy ít nhất…”</a:t>
            </a:r>
            <a:endParaRPr lang="en-US" sz="1250" dirty="0"/>
          </a:p>
        </p:txBody>
      </p:sp>
      <p:sp>
        <p:nvSpPr>
          <p:cNvPr id="19" name="Shape 17"/>
          <p:cNvSpPr/>
          <p:nvPr/>
        </p:nvSpPr>
        <p:spPr>
          <a:xfrm>
            <a:off x="8156448" y="1783080"/>
            <a:ext cx="3529584" cy="3566160"/>
          </a:xfrm>
          <a:prstGeom prst="roundRect">
            <a:avLst>
              <a:gd name="adj" fmla="val 3627"/>
            </a:avLst>
          </a:prstGeom>
          <a:solidFill>
            <a:srgbClr val="5B6FB0"/>
          </a:solidFill>
          <a:ln/>
        </p:spPr>
      </p:sp>
      <p:sp>
        <p:nvSpPr>
          <p:cNvPr id="20" name="Text 18"/>
          <p:cNvSpPr/>
          <p:nvPr/>
        </p:nvSpPr>
        <p:spPr>
          <a:xfrm>
            <a:off x="8156448" y="2011680"/>
            <a:ext cx="3529584" cy="1005840"/>
          </a:xfrm>
          <a:prstGeom prst="rect">
            <a:avLst/>
          </a:prstGeom>
          <a:noFill/>
          <a:ln/>
        </p:spPr>
        <p:txBody>
          <a:bodyPr wrap="square" rtlCol="0" anchor="ctr"/>
          <a:lstStyle/>
          <a:p>
            <a:pPr marL="0" indent="0" algn="ctr">
              <a:buNone/>
            </a:pPr>
            <a:r>
              <a:rPr lang="en-US" sz="5400" b="1" dirty="0">
                <a:solidFill>
                  <a:srgbClr val="FFFFFF"/>
                </a:solidFill>
                <a:latin typeface="Calibri" pitchFamily="34" charset="0"/>
                <a:ea typeface="Calibri" pitchFamily="34" charset="-122"/>
                <a:cs typeface="Calibri" pitchFamily="34" charset="-120"/>
              </a:rPr>
              <a:t>Θ</a:t>
            </a:r>
            <a:endParaRPr lang="en-US" sz="5400" dirty="0"/>
          </a:p>
        </p:txBody>
      </p:sp>
      <p:sp>
        <p:nvSpPr>
          <p:cNvPr id="21" name="Text 19"/>
          <p:cNvSpPr/>
          <p:nvPr/>
        </p:nvSpPr>
        <p:spPr>
          <a:xfrm>
            <a:off x="8156448" y="3017520"/>
            <a:ext cx="3529584" cy="365760"/>
          </a:xfrm>
          <a:prstGeom prst="rect">
            <a:avLst/>
          </a:prstGeom>
          <a:noFill/>
          <a:ln/>
        </p:spPr>
        <p:txBody>
          <a:bodyPr wrap="square" rtlCol="0" anchor="ctr"/>
          <a:lstStyle/>
          <a:p>
            <a:pPr marL="0" indent="0" algn="ctr">
              <a:buNone/>
            </a:pPr>
            <a:r>
              <a:rPr lang="en-US" sz="1600" b="1" dirty="0">
                <a:solidFill>
                  <a:srgbClr val="F2B134"/>
                </a:solidFill>
                <a:latin typeface="Calibri" pitchFamily="34" charset="0"/>
                <a:ea typeface="Calibri" pitchFamily="34" charset="-122"/>
                <a:cs typeface="Calibri" pitchFamily="34" charset="-120"/>
              </a:rPr>
              <a:t>Big Theta</a:t>
            </a:r>
            <a:endParaRPr lang="en-US" sz="1600" dirty="0"/>
          </a:p>
        </p:txBody>
      </p:sp>
      <p:sp>
        <p:nvSpPr>
          <p:cNvPr id="22" name="Text 20"/>
          <p:cNvSpPr/>
          <p:nvPr/>
        </p:nvSpPr>
        <p:spPr>
          <a:xfrm>
            <a:off x="8476488" y="3474720"/>
            <a:ext cx="2889504"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Cận chặt</a:t>
            </a:r>
            <a:endParaRPr lang="en-US" sz="1300" dirty="0"/>
          </a:p>
        </p:txBody>
      </p:sp>
      <p:sp>
        <p:nvSpPr>
          <p:cNvPr id="23" name="Text 21"/>
          <p:cNvSpPr/>
          <p:nvPr/>
        </p:nvSpPr>
        <p:spPr>
          <a:xfrm>
            <a:off x="8476488" y="3840480"/>
            <a:ext cx="2889504" cy="548640"/>
          </a:xfrm>
          <a:prstGeom prst="rect">
            <a:avLst/>
          </a:prstGeom>
          <a:noFill/>
          <a:ln/>
        </p:spPr>
        <p:txBody>
          <a:bodyPr wrap="square" rtlCol="0" anchor="ctr"/>
          <a:lstStyle/>
          <a:p>
            <a:pPr marL="0" indent="0" algn="ctr">
              <a:lnSpc>
                <a:spcPct val="120000"/>
              </a:lnSpc>
              <a:buNone/>
            </a:pPr>
            <a:r>
              <a:rPr lang="en-US" sz="1150" dirty="0">
                <a:solidFill>
                  <a:srgbClr val="CADCFC"/>
                </a:solidFill>
                <a:latin typeface="Calibri" pitchFamily="34" charset="0"/>
                <a:ea typeface="Calibri" pitchFamily="34" charset="-122"/>
                <a:cs typeface="Calibri" pitchFamily="34" charset="-120"/>
              </a:rPr>
              <a:t>Cả trên lẫn dưới</a:t>
            </a:r>
            <a:endParaRPr lang="en-US" sz="1150" dirty="0"/>
          </a:p>
        </p:txBody>
      </p:sp>
      <p:sp>
        <p:nvSpPr>
          <p:cNvPr id="24" name="Shape 22"/>
          <p:cNvSpPr/>
          <p:nvPr/>
        </p:nvSpPr>
        <p:spPr>
          <a:xfrm>
            <a:off x="8705088" y="4480560"/>
            <a:ext cx="2432304" cy="0"/>
          </a:xfrm>
          <a:prstGeom prst="line">
            <a:avLst/>
          </a:prstGeom>
          <a:noFill/>
          <a:ln w="9525">
            <a:solidFill>
              <a:srgbClr val="FFFFFF">
                <a:alpha val="40000"/>
              </a:srgbClr>
            </a:solidFill>
            <a:prstDash val="solid"/>
          </a:ln>
        </p:spPr>
      </p:sp>
      <p:sp>
        <p:nvSpPr>
          <p:cNvPr id="25" name="Text 23"/>
          <p:cNvSpPr/>
          <p:nvPr/>
        </p:nvSpPr>
        <p:spPr>
          <a:xfrm>
            <a:off x="8476488" y="4617720"/>
            <a:ext cx="2889504" cy="548640"/>
          </a:xfrm>
          <a:prstGeom prst="rect">
            <a:avLst/>
          </a:prstGeom>
          <a:noFill/>
          <a:ln/>
        </p:spPr>
        <p:txBody>
          <a:bodyPr wrap="square" rtlCol="0" anchor="ctr"/>
          <a:lstStyle/>
          <a:p>
            <a:pPr marL="0" indent="0" algn="ctr">
              <a:buNone/>
            </a:pPr>
            <a:r>
              <a:rPr lang="en-US" sz="1250" i="1" dirty="0">
                <a:solidFill>
                  <a:srgbClr val="FFFFFF"/>
                </a:solidFill>
                <a:latin typeface="Calibri" pitchFamily="34" charset="0"/>
                <a:ea typeface="Calibri" pitchFamily="34" charset="-122"/>
                <a:cs typeface="Calibri" pitchFamily="34" charset="-120"/>
              </a:rPr>
              <a:t>“Chạy đúng cỡ…”</a:t>
            </a:r>
            <a:endParaRPr lang="en-US" sz="1250" dirty="0"/>
          </a:p>
        </p:txBody>
      </p:sp>
      <p:sp>
        <p:nvSpPr>
          <p:cNvPr id="26" name="Text 24"/>
          <p:cNvSpPr/>
          <p:nvPr/>
        </p:nvSpPr>
        <p:spPr>
          <a:xfrm>
            <a:off x="457200" y="5532120"/>
            <a:ext cx="11274552" cy="640080"/>
          </a:xfrm>
          <a:prstGeom prst="rect">
            <a:avLst/>
          </a:prstGeom>
          <a:noFill/>
          <a:ln/>
        </p:spPr>
        <p:txBody>
          <a:bodyPr wrap="square" rtlCol="0" anchor="ctr"/>
          <a:lstStyle/>
          <a:p>
            <a:pPr marL="0" indent="0" algn="ctr">
              <a:lnSpc>
                <a:spcPct val="125000"/>
              </a:lnSpc>
              <a:buNone/>
            </a:pPr>
            <a:r>
              <a:rPr lang="en-US" sz="1300" i="1" dirty="0">
                <a:solidFill>
                  <a:srgbClr val="5B6B8C"/>
                </a:solidFill>
                <a:latin typeface="Calibri" pitchFamily="34" charset="0"/>
                <a:ea typeface="Calibri" pitchFamily="34" charset="-122"/>
                <a:cs typeface="Calibri" pitchFamily="34" charset="-120"/>
              </a:rPr>
              <a:t>Trong thực tế, Big O được dùng phổ biến nhất vì ta thường quan tâm trường hợp xấu nhất để đảm bảo thuật toán không tệ hơn một mức nào đó.</a:t>
            </a:r>
            <a:endParaRPr lang="en-US" sz="1300" dirty="0"/>
          </a:p>
        </p:txBody>
      </p:sp>
      <p:sp>
        <p:nvSpPr>
          <p:cNvPr id="27" name="Text 25"/>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5</a:t>
            </a:r>
            <a:endParaRPr lang="en-US" sz="1000" dirty="0"/>
          </a:p>
        </p:txBody>
      </p:sp>
      <p:sp>
        <p:nvSpPr>
          <p:cNvPr id="28" name="Text 26"/>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TRƯỜNG HỢP</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Best · Average · Worst case</a:t>
            </a:r>
            <a:endParaRPr lang="en-US" sz="3000" dirty="0"/>
          </a:p>
        </p:txBody>
      </p:sp>
      <p:sp>
        <p:nvSpPr>
          <p:cNvPr id="5" name="Text 3"/>
          <p:cNvSpPr/>
          <p:nvPr/>
        </p:nvSpPr>
        <p:spPr>
          <a:xfrm>
            <a:off x="457200" y="1691640"/>
            <a:ext cx="11274552" cy="365760"/>
          </a:xfrm>
          <a:prstGeom prst="rect">
            <a:avLst/>
          </a:prstGeom>
          <a:noFill/>
          <a:ln/>
        </p:spPr>
        <p:txBody>
          <a:bodyPr wrap="square" rtlCol="0" anchor="ctr"/>
          <a:lstStyle/>
          <a:p>
            <a:pPr marL="0" indent="0">
              <a:buNone/>
            </a:pPr>
            <a:r>
              <a:rPr lang="en-US" sz="1350" i="1" dirty="0">
                <a:solidFill>
                  <a:srgbClr val="5B6B8C"/>
                </a:solidFill>
                <a:latin typeface="Calibri" pitchFamily="34" charset="0"/>
                <a:ea typeface="Calibri" pitchFamily="34" charset="-122"/>
                <a:cs typeface="Calibri" pitchFamily="34" charset="-120"/>
              </a:rPr>
              <a:t>Ví dụ: Tìm kiếm tuyến tính (Linear Search)</a:t>
            </a:r>
            <a:endParaRPr lang="en-US" sz="1350" dirty="0"/>
          </a:p>
        </p:txBody>
      </p:sp>
      <p:sp>
        <p:nvSpPr>
          <p:cNvPr id="6" name="Shape 4"/>
          <p:cNvSpPr/>
          <p:nvPr/>
        </p:nvSpPr>
        <p:spPr>
          <a:xfrm>
            <a:off x="457200" y="2286000"/>
            <a:ext cx="11274552" cy="1143000"/>
          </a:xfrm>
          <a:prstGeom prst="roundRect">
            <a:avLst>
              <a:gd name="adj" fmla="val 8000"/>
            </a:avLst>
          </a:prstGeom>
          <a:solidFill>
            <a:srgbClr val="F4F6FC"/>
          </a:solidFill>
          <a:ln/>
        </p:spPr>
      </p:sp>
      <p:sp>
        <p:nvSpPr>
          <p:cNvPr id="7" name="Shape 5"/>
          <p:cNvSpPr/>
          <p:nvPr/>
        </p:nvSpPr>
        <p:spPr>
          <a:xfrm>
            <a:off x="457200" y="2286000"/>
            <a:ext cx="164592" cy="1143000"/>
          </a:xfrm>
          <a:prstGeom prst="roundRect">
            <a:avLst/>
          </a:prstGeom>
          <a:solidFill>
            <a:srgbClr val="2E7D5B"/>
          </a:solidFill>
          <a:ln/>
        </p:spPr>
      </p:sp>
      <p:sp>
        <p:nvSpPr>
          <p:cNvPr id="8" name="Text 6"/>
          <p:cNvSpPr/>
          <p:nvPr/>
        </p:nvSpPr>
        <p:spPr>
          <a:xfrm>
            <a:off x="868680" y="228600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Best case (Ω)</a:t>
            </a:r>
            <a:endParaRPr lang="en-US" sz="1500" dirty="0"/>
          </a:p>
        </p:txBody>
      </p:sp>
      <p:sp>
        <p:nvSpPr>
          <p:cNvPr id="9" name="Text 7"/>
          <p:cNvSpPr/>
          <p:nvPr/>
        </p:nvSpPr>
        <p:spPr>
          <a:xfrm>
            <a:off x="3337560" y="2286000"/>
            <a:ext cx="2743200" cy="1143000"/>
          </a:xfrm>
          <a:prstGeom prst="rect">
            <a:avLst/>
          </a:prstGeom>
          <a:noFill/>
          <a:ln/>
        </p:spPr>
        <p:txBody>
          <a:bodyPr wrap="square" rtlCol="0" anchor="ctr"/>
          <a:lstStyle/>
          <a:p>
            <a:pPr marL="0" indent="0">
              <a:buNone/>
            </a:pPr>
            <a:r>
              <a:rPr lang="en-US" sz="1200" i="1" dirty="0">
                <a:solidFill>
                  <a:srgbClr val="1B2340"/>
                </a:solidFill>
                <a:latin typeface="Calibri" pitchFamily="34" charset="0"/>
                <a:ea typeface="Calibri" pitchFamily="34" charset="-122"/>
                <a:cs typeface="Calibri" pitchFamily="34" charset="-120"/>
              </a:rPr>
              <a:t>Dữ liệu thuận lợi nhất</a:t>
            </a:r>
            <a:endParaRPr lang="en-US" sz="1200" dirty="0"/>
          </a:p>
        </p:txBody>
      </p:sp>
      <p:sp>
        <p:nvSpPr>
          <p:cNvPr id="10" name="Text 8"/>
          <p:cNvSpPr/>
          <p:nvPr/>
        </p:nvSpPr>
        <p:spPr>
          <a:xfrm>
            <a:off x="6172200" y="2286000"/>
            <a:ext cx="4023360" cy="1143000"/>
          </a:xfrm>
          <a:prstGeom prst="rect">
            <a:avLst/>
          </a:prstGeom>
          <a:noFill/>
          <a:ln/>
        </p:spPr>
        <p:txBody>
          <a:bodyPr wrap="square" rtlCol="0" anchor="ctr"/>
          <a:lstStyle/>
          <a:p>
            <a:pPr marL="0" indent="0">
              <a:buNone/>
            </a:pPr>
            <a:r>
              <a:rPr lang="en-US" sz="1250" dirty="0">
                <a:solidFill>
                  <a:srgbClr val="1B2340"/>
                </a:solidFill>
                <a:latin typeface="Calibri" pitchFamily="34" charset="0"/>
                <a:ea typeface="Calibri" pitchFamily="34" charset="-122"/>
                <a:cs typeface="Calibri" pitchFamily="34" charset="-120"/>
              </a:rPr>
              <a:t>Phần tử cần tìm ở vị trí đầu tiên</a:t>
            </a:r>
            <a:endParaRPr lang="en-US" sz="1250" dirty="0"/>
          </a:p>
        </p:txBody>
      </p:sp>
      <p:sp>
        <p:nvSpPr>
          <p:cNvPr id="11" name="Shape 9"/>
          <p:cNvSpPr/>
          <p:nvPr/>
        </p:nvSpPr>
        <p:spPr>
          <a:xfrm>
            <a:off x="10378440" y="2564892"/>
            <a:ext cx="1188720" cy="585216"/>
          </a:xfrm>
          <a:prstGeom prst="roundRect">
            <a:avLst>
              <a:gd name="adj" fmla="val 50000"/>
            </a:avLst>
          </a:prstGeom>
          <a:solidFill>
            <a:srgbClr val="2E7D5B"/>
          </a:solidFill>
          <a:ln/>
        </p:spPr>
      </p:sp>
      <p:sp>
        <p:nvSpPr>
          <p:cNvPr id="12" name="Text 10"/>
          <p:cNvSpPr/>
          <p:nvPr/>
        </p:nvSpPr>
        <p:spPr>
          <a:xfrm>
            <a:off x="10378440" y="2564892"/>
            <a:ext cx="1188720" cy="58521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O(1)</a:t>
            </a:r>
            <a:endParaRPr lang="en-US" sz="1400" dirty="0"/>
          </a:p>
        </p:txBody>
      </p:sp>
      <p:sp>
        <p:nvSpPr>
          <p:cNvPr id="13" name="Shape 11"/>
          <p:cNvSpPr/>
          <p:nvPr/>
        </p:nvSpPr>
        <p:spPr>
          <a:xfrm>
            <a:off x="457200" y="3566160"/>
            <a:ext cx="11274552" cy="1143000"/>
          </a:xfrm>
          <a:prstGeom prst="roundRect">
            <a:avLst>
              <a:gd name="adj" fmla="val 8000"/>
            </a:avLst>
          </a:prstGeom>
          <a:solidFill>
            <a:srgbClr val="F4F6FC"/>
          </a:solidFill>
          <a:ln/>
        </p:spPr>
      </p:sp>
      <p:sp>
        <p:nvSpPr>
          <p:cNvPr id="14" name="Shape 12"/>
          <p:cNvSpPr/>
          <p:nvPr/>
        </p:nvSpPr>
        <p:spPr>
          <a:xfrm>
            <a:off x="457200" y="3566160"/>
            <a:ext cx="164592" cy="1143000"/>
          </a:xfrm>
          <a:prstGeom prst="roundRect">
            <a:avLst/>
          </a:prstGeom>
          <a:solidFill>
            <a:srgbClr val="1E2761"/>
          </a:solidFill>
          <a:ln/>
        </p:spPr>
      </p:sp>
      <p:sp>
        <p:nvSpPr>
          <p:cNvPr id="15" name="Text 13"/>
          <p:cNvSpPr/>
          <p:nvPr/>
        </p:nvSpPr>
        <p:spPr>
          <a:xfrm>
            <a:off x="868680" y="356616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Average case</a:t>
            </a:r>
            <a:endParaRPr lang="en-US" sz="1500" dirty="0"/>
          </a:p>
        </p:txBody>
      </p:sp>
      <p:sp>
        <p:nvSpPr>
          <p:cNvPr id="16" name="Text 14"/>
          <p:cNvSpPr/>
          <p:nvPr/>
        </p:nvSpPr>
        <p:spPr>
          <a:xfrm>
            <a:off x="3337560" y="3566160"/>
            <a:ext cx="2743200" cy="1143000"/>
          </a:xfrm>
          <a:prstGeom prst="rect">
            <a:avLst/>
          </a:prstGeom>
          <a:noFill/>
          <a:ln/>
        </p:spPr>
        <p:txBody>
          <a:bodyPr wrap="square" rtlCol="0" anchor="ctr"/>
          <a:lstStyle/>
          <a:p>
            <a:pPr marL="0" indent="0">
              <a:buNone/>
            </a:pPr>
            <a:r>
              <a:rPr lang="en-US" sz="1200" i="1" dirty="0">
                <a:solidFill>
                  <a:srgbClr val="1B2340"/>
                </a:solidFill>
                <a:latin typeface="Calibri" pitchFamily="34" charset="0"/>
                <a:ea typeface="Calibri" pitchFamily="34" charset="-122"/>
                <a:cs typeface="Calibri" pitchFamily="34" charset="-120"/>
              </a:rPr>
              <a:t>Trung bình mọi khả năng</a:t>
            </a:r>
            <a:endParaRPr lang="en-US" sz="1200" dirty="0"/>
          </a:p>
        </p:txBody>
      </p:sp>
      <p:sp>
        <p:nvSpPr>
          <p:cNvPr id="17" name="Text 15"/>
          <p:cNvSpPr/>
          <p:nvPr/>
        </p:nvSpPr>
        <p:spPr>
          <a:xfrm>
            <a:off x="6172200" y="3566160"/>
            <a:ext cx="4023360" cy="1143000"/>
          </a:xfrm>
          <a:prstGeom prst="rect">
            <a:avLst/>
          </a:prstGeom>
          <a:noFill/>
          <a:ln/>
        </p:spPr>
        <p:txBody>
          <a:bodyPr wrap="square" rtlCol="0" anchor="ctr"/>
          <a:lstStyle/>
          <a:p>
            <a:pPr marL="0" indent="0">
              <a:buNone/>
            </a:pPr>
            <a:r>
              <a:rPr lang="en-US" sz="1250" dirty="0">
                <a:solidFill>
                  <a:srgbClr val="1B2340"/>
                </a:solidFill>
                <a:latin typeface="Calibri" pitchFamily="34" charset="0"/>
                <a:ea typeface="Calibri" pitchFamily="34" charset="-122"/>
                <a:cs typeface="Calibri" pitchFamily="34" charset="-120"/>
              </a:rPr>
              <a:t>Phần tử ở khoảng giữa mảng</a:t>
            </a:r>
            <a:endParaRPr lang="en-US" sz="1250" dirty="0"/>
          </a:p>
        </p:txBody>
      </p:sp>
      <p:sp>
        <p:nvSpPr>
          <p:cNvPr id="18" name="Shape 16"/>
          <p:cNvSpPr/>
          <p:nvPr/>
        </p:nvSpPr>
        <p:spPr>
          <a:xfrm>
            <a:off x="10378440" y="3845052"/>
            <a:ext cx="1188720" cy="585216"/>
          </a:xfrm>
          <a:prstGeom prst="roundRect">
            <a:avLst>
              <a:gd name="adj" fmla="val 50000"/>
            </a:avLst>
          </a:prstGeom>
          <a:solidFill>
            <a:srgbClr val="1E2761"/>
          </a:solidFill>
          <a:ln/>
        </p:spPr>
      </p:sp>
      <p:sp>
        <p:nvSpPr>
          <p:cNvPr id="19" name="Text 17"/>
          <p:cNvSpPr/>
          <p:nvPr/>
        </p:nvSpPr>
        <p:spPr>
          <a:xfrm>
            <a:off x="10378440" y="3845052"/>
            <a:ext cx="1188720" cy="58521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O(n)</a:t>
            </a:r>
            <a:endParaRPr lang="en-US" sz="1400" dirty="0"/>
          </a:p>
        </p:txBody>
      </p:sp>
      <p:sp>
        <p:nvSpPr>
          <p:cNvPr id="20" name="Shape 18"/>
          <p:cNvSpPr/>
          <p:nvPr/>
        </p:nvSpPr>
        <p:spPr>
          <a:xfrm>
            <a:off x="457200" y="4846320"/>
            <a:ext cx="11274552" cy="1143000"/>
          </a:xfrm>
          <a:prstGeom prst="roundRect">
            <a:avLst>
              <a:gd name="adj" fmla="val 8000"/>
            </a:avLst>
          </a:prstGeom>
          <a:solidFill>
            <a:srgbClr val="F4F6FC"/>
          </a:solidFill>
          <a:ln/>
        </p:spPr>
      </p:sp>
      <p:sp>
        <p:nvSpPr>
          <p:cNvPr id="21" name="Shape 19"/>
          <p:cNvSpPr/>
          <p:nvPr/>
        </p:nvSpPr>
        <p:spPr>
          <a:xfrm>
            <a:off x="457200" y="4846320"/>
            <a:ext cx="164592" cy="1143000"/>
          </a:xfrm>
          <a:prstGeom prst="roundRect">
            <a:avLst/>
          </a:prstGeom>
          <a:solidFill>
            <a:srgbClr val="B23A48"/>
          </a:solidFill>
          <a:ln/>
        </p:spPr>
      </p:sp>
      <p:sp>
        <p:nvSpPr>
          <p:cNvPr id="22" name="Text 20"/>
          <p:cNvSpPr/>
          <p:nvPr/>
        </p:nvSpPr>
        <p:spPr>
          <a:xfrm>
            <a:off x="868680" y="4846320"/>
            <a:ext cx="2377440" cy="11430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Worst case (O)</a:t>
            </a:r>
            <a:endParaRPr lang="en-US" sz="1500" dirty="0"/>
          </a:p>
        </p:txBody>
      </p:sp>
      <p:sp>
        <p:nvSpPr>
          <p:cNvPr id="23" name="Text 21"/>
          <p:cNvSpPr/>
          <p:nvPr/>
        </p:nvSpPr>
        <p:spPr>
          <a:xfrm>
            <a:off x="3337560" y="4846320"/>
            <a:ext cx="2743200" cy="1143000"/>
          </a:xfrm>
          <a:prstGeom prst="rect">
            <a:avLst/>
          </a:prstGeom>
          <a:noFill/>
          <a:ln/>
        </p:spPr>
        <p:txBody>
          <a:bodyPr wrap="square" rtlCol="0" anchor="ctr"/>
          <a:lstStyle/>
          <a:p>
            <a:pPr marL="0" indent="0">
              <a:buNone/>
            </a:pPr>
            <a:r>
              <a:rPr lang="en-US" sz="1200" i="1" dirty="0">
                <a:solidFill>
                  <a:srgbClr val="1B2340"/>
                </a:solidFill>
                <a:latin typeface="Calibri" pitchFamily="34" charset="0"/>
                <a:ea typeface="Calibri" pitchFamily="34" charset="-122"/>
                <a:cs typeface="Calibri" pitchFamily="34" charset="-120"/>
              </a:rPr>
              <a:t>Dữ liệu bất lợi nhất</a:t>
            </a:r>
            <a:endParaRPr lang="en-US" sz="1200" dirty="0"/>
          </a:p>
        </p:txBody>
      </p:sp>
      <p:sp>
        <p:nvSpPr>
          <p:cNvPr id="24" name="Text 22"/>
          <p:cNvSpPr/>
          <p:nvPr/>
        </p:nvSpPr>
        <p:spPr>
          <a:xfrm>
            <a:off x="6172200" y="4846320"/>
            <a:ext cx="4023360" cy="1143000"/>
          </a:xfrm>
          <a:prstGeom prst="rect">
            <a:avLst/>
          </a:prstGeom>
          <a:noFill/>
          <a:ln/>
        </p:spPr>
        <p:txBody>
          <a:bodyPr wrap="square" rtlCol="0" anchor="ctr"/>
          <a:lstStyle/>
          <a:p>
            <a:pPr marL="0" indent="0">
              <a:buNone/>
            </a:pPr>
            <a:r>
              <a:rPr lang="en-US" sz="1250" dirty="0">
                <a:solidFill>
                  <a:srgbClr val="1B2340"/>
                </a:solidFill>
                <a:latin typeface="Calibri" pitchFamily="34" charset="0"/>
                <a:ea typeface="Calibri" pitchFamily="34" charset="-122"/>
                <a:cs typeface="Calibri" pitchFamily="34" charset="-120"/>
              </a:rPr>
              <a:t>Phần tử ở cuối hoặc không tồn tại</a:t>
            </a:r>
            <a:endParaRPr lang="en-US" sz="1250" dirty="0"/>
          </a:p>
        </p:txBody>
      </p:sp>
      <p:sp>
        <p:nvSpPr>
          <p:cNvPr id="25" name="Shape 23"/>
          <p:cNvSpPr/>
          <p:nvPr/>
        </p:nvSpPr>
        <p:spPr>
          <a:xfrm>
            <a:off x="10378440" y="5125212"/>
            <a:ext cx="1188720" cy="585216"/>
          </a:xfrm>
          <a:prstGeom prst="roundRect">
            <a:avLst>
              <a:gd name="adj" fmla="val 50000"/>
            </a:avLst>
          </a:prstGeom>
          <a:solidFill>
            <a:srgbClr val="B23A48"/>
          </a:solidFill>
          <a:ln/>
        </p:spPr>
      </p:sp>
      <p:sp>
        <p:nvSpPr>
          <p:cNvPr id="26" name="Text 24"/>
          <p:cNvSpPr/>
          <p:nvPr/>
        </p:nvSpPr>
        <p:spPr>
          <a:xfrm>
            <a:off x="10378440" y="5125212"/>
            <a:ext cx="1188720" cy="585216"/>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O(n)</a:t>
            </a:r>
            <a:endParaRPr lang="en-US" sz="1400" dirty="0"/>
          </a:p>
        </p:txBody>
      </p:sp>
      <p:sp>
        <p:nvSpPr>
          <p:cNvPr id="27" name="Shape 25"/>
          <p:cNvSpPr/>
          <p:nvPr/>
        </p:nvSpPr>
        <p:spPr>
          <a:xfrm>
            <a:off x="457200" y="5806440"/>
            <a:ext cx="11274552" cy="502920"/>
          </a:xfrm>
          <a:prstGeom prst="roundRect">
            <a:avLst>
              <a:gd name="adj" fmla="val 14545"/>
            </a:avLst>
          </a:prstGeom>
          <a:solidFill>
            <a:srgbClr val="1E2761"/>
          </a:solidFill>
          <a:ln/>
        </p:spPr>
      </p:sp>
      <p:sp>
        <p:nvSpPr>
          <p:cNvPr id="28" name="Text 26"/>
          <p:cNvSpPr/>
          <p:nvPr/>
        </p:nvSpPr>
        <p:spPr>
          <a:xfrm>
            <a:off x="640080" y="5806440"/>
            <a:ext cx="10908792" cy="5029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Quy ước: khi nói “độ phức tạp là O(...)” mà không nói rõ → mặc định là worst case.</a:t>
            </a:r>
            <a:endParaRPr lang="en-US" sz="1250" dirty="0"/>
          </a:p>
        </p:txBody>
      </p:sp>
      <p:sp>
        <p:nvSpPr>
          <p:cNvPr id="29" name="Text 27"/>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6</a:t>
            </a:r>
            <a:endParaRPr lang="en-US" sz="1000" dirty="0"/>
          </a:p>
        </p:txBody>
      </p:sp>
      <p:sp>
        <p:nvSpPr>
          <p:cNvPr id="30" name="Text 28"/>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QUY TẮC</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5 quy tắc tính toán Big O</a:t>
            </a:r>
            <a:endParaRPr lang="en-US" sz="3000" dirty="0"/>
          </a:p>
        </p:txBody>
      </p:sp>
      <p:sp>
        <p:nvSpPr>
          <p:cNvPr id="5" name="Shape 3"/>
          <p:cNvSpPr/>
          <p:nvPr/>
        </p:nvSpPr>
        <p:spPr>
          <a:xfrm>
            <a:off x="457200" y="1828800"/>
            <a:ext cx="2212848" cy="4114800"/>
          </a:xfrm>
          <a:prstGeom prst="roundRect">
            <a:avLst>
              <a:gd name="adj" fmla="val 4959"/>
            </a:avLst>
          </a:prstGeom>
          <a:solidFill>
            <a:srgbClr val="1E2761"/>
          </a:solidFill>
          <a:ln/>
        </p:spPr>
      </p:sp>
      <p:sp>
        <p:nvSpPr>
          <p:cNvPr id="6" name="Text 4"/>
          <p:cNvSpPr/>
          <p:nvPr/>
        </p:nvSpPr>
        <p:spPr>
          <a:xfrm>
            <a:off x="457200" y="2057400"/>
            <a:ext cx="2212848" cy="640080"/>
          </a:xfrm>
          <a:prstGeom prst="rect">
            <a:avLst/>
          </a:prstGeom>
          <a:noFill/>
          <a:ln/>
        </p:spPr>
        <p:txBody>
          <a:bodyPr wrap="square" rtlCol="0" anchor="ctr"/>
          <a:lstStyle/>
          <a:p>
            <a:pPr marL="0" indent="0" algn="ctr">
              <a:buNone/>
            </a:pPr>
            <a:r>
              <a:rPr lang="en-US" sz="3000" b="1" dirty="0">
                <a:solidFill>
                  <a:srgbClr val="F2B134"/>
                </a:solidFill>
                <a:latin typeface="Calibri" pitchFamily="34" charset="0"/>
                <a:ea typeface="Calibri" pitchFamily="34" charset="-122"/>
                <a:cs typeface="Calibri" pitchFamily="34" charset="-120"/>
              </a:rPr>
              <a:t>1</a:t>
            </a:r>
            <a:endParaRPr lang="en-US" sz="3000" dirty="0"/>
          </a:p>
        </p:txBody>
      </p:sp>
      <p:sp>
        <p:nvSpPr>
          <p:cNvPr id="7" name="Text 5"/>
          <p:cNvSpPr/>
          <p:nvPr/>
        </p:nvSpPr>
        <p:spPr>
          <a:xfrm>
            <a:off x="640080" y="2743200"/>
            <a:ext cx="1847088" cy="100584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Bỏ hằng số nhân</a:t>
            </a:r>
            <a:endParaRPr lang="en-US" sz="1350" dirty="0"/>
          </a:p>
        </p:txBody>
      </p:sp>
      <p:sp>
        <p:nvSpPr>
          <p:cNvPr id="8" name="Shape 6"/>
          <p:cNvSpPr/>
          <p:nvPr/>
        </p:nvSpPr>
        <p:spPr>
          <a:xfrm>
            <a:off x="822960" y="3840480"/>
            <a:ext cx="1481328" cy="0"/>
          </a:xfrm>
          <a:prstGeom prst="line">
            <a:avLst/>
          </a:prstGeom>
          <a:noFill/>
          <a:ln w="9525">
            <a:solidFill>
              <a:srgbClr val="FFFFFF">
                <a:alpha val="45000"/>
              </a:srgbClr>
            </a:solidFill>
            <a:prstDash val="solid"/>
          </a:ln>
        </p:spPr>
      </p:sp>
      <p:sp>
        <p:nvSpPr>
          <p:cNvPr id="9" name="Text 7"/>
          <p:cNvSpPr/>
          <p:nvPr/>
        </p:nvSpPr>
        <p:spPr>
          <a:xfrm>
            <a:off x="640080" y="4023360"/>
            <a:ext cx="1847088" cy="1645920"/>
          </a:xfrm>
          <a:prstGeom prst="rect">
            <a:avLst/>
          </a:prstGeom>
          <a:noFill/>
          <a:ln/>
        </p:spPr>
        <p:txBody>
          <a:bodyPr wrap="square" rtlCol="0" anchor="ctr"/>
          <a:lstStyle/>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O(5n) = O(n)</a:t>
            </a:r>
            <a:endParaRPr lang="en-US" sz="1150" dirty="0"/>
          </a:p>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O(100) = O(1)</a:t>
            </a:r>
            <a:endParaRPr lang="en-US" sz="1150" dirty="0"/>
          </a:p>
        </p:txBody>
      </p:sp>
      <p:sp>
        <p:nvSpPr>
          <p:cNvPr id="10" name="Shape 8"/>
          <p:cNvSpPr/>
          <p:nvPr/>
        </p:nvSpPr>
        <p:spPr>
          <a:xfrm>
            <a:off x="2834640" y="1828800"/>
            <a:ext cx="2212848" cy="4114800"/>
          </a:xfrm>
          <a:prstGeom prst="roundRect">
            <a:avLst>
              <a:gd name="adj" fmla="val 4959"/>
            </a:avLst>
          </a:prstGeom>
          <a:solidFill>
            <a:srgbClr val="3A4A8C"/>
          </a:solidFill>
          <a:ln/>
        </p:spPr>
      </p:sp>
      <p:sp>
        <p:nvSpPr>
          <p:cNvPr id="11" name="Text 9"/>
          <p:cNvSpPr/>
          <p:nvPr/>
        </p:nvSpPr>
        <p:spPr>
          <a:xfrm>
            <a:off x="2834640" y="2057400"/>
            <a:ext cx="2212848" cy="640080"/>
          </a:xfrm>
          <a:prstGeom prst="rect">
            <a:avLst/>
          </a:prstGeom>
          <a:noFill/>
          <a:ln/>
        </p:spPr>
        <p:txBody>
          <a:bodyPr wrap="square" rtlCol="0" anchor="ctr"/>
          <a:lstStyle/>
          <a:p>
            <a:pPr marL="0" indent="0" algn="ctr">
              <a:buNone/>
            </a:pPr>
            <a:r>
              <a:rPr lang="en-US" sz="3000" b="1" dirty="0">
                <a:solidFill>
                  <a:srgbClr val="F2B134"/>
                </a:solidFill>
                <a:latin typeface="Calibri" pitchFamily="34" charset="0"/>
                <a:ea typeface="Calibri" pitchFamily="34" charset="-122"/>
                <a:cs typeface="Calibri" pitchFamily="34" charset="-120"/>
              </a:rPr>
              <a:t>2</a:t>
            </a:r>
            <a:endParaRPr lang="en-US" sz="3000" dirty="0"/>
          </a:p>
        </p:txBody>
      </p:sp>
      <p:sp>
        <p:nvSpPr>
          <p:cNvPr id="12" name="Text 10"/>
          <p:cNvSpPr/>
          <p:nvPr/>
        </p:nvSpPr>
        <p:spPr>
          <a:xfrm>
            <a:off x="3017520" y="2743200"/>
            <a:ext cx="1847088" cy="100584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Giữ số hạng lớn nhất</a:t>
            </a:r>
            <a:endParaRPr lang="en-US" sz="1350" dirty="0"/>
          </a:p>
        </p:txBody>
      </p:sp>
      <p:sp>
        <p:nvSpPr>
          <p:cNvPr id="13" name="Shape 11"/>
          <p:cNvSpPr/>
          <p:nvPr/>
        </p:nvSpPr>
        <p:spPr>
          <a:xfrm>
            <a:off x="3200400" y="3840480"/>
            <a:ext cx="1481328" cy="0"/>
          </a:xfrm>
          <a:prstGeom prst="line">
            <a:avLst/>
          </a:prstGeom>
          <a:noFill/>
          <a:ln w="9525">
            <a:solidFill>
              <a:srgbClr val="FFFFFF">
                <a:alpha val="45000"/>
              </a:srgbClr>
            </a:solidFill>
            <a:prstDash val="solid"/>
          </a:ln>
        </p:spPr>
      </p:sp>
      <p:sp>
        <p:nvSpPr>
          <p:cNvPr id="14" name="Text 12"/>
          <p:cNvSpPr/>
          <p:nvPr/>
        </p:nvSpPr>
        <p:spPr>
          <a:xfrm>
            <a:off x="3017520" y="4023360"/>
            <a:ext cx="1847088" cy="1645920"/>
          </a:xfrm>
          <a:prstGeom prst="rect">
            <a:avLst/>
          </a:prstGeom>
          <a:noFill/>
          <a:ln/>
        </p:spPr>
        <p:txBody>
          <a:bodyPr wrap="square" rtlCol="0" anchor="ctr"/>
          <a:lstStyle/>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O(n² + n + 1)</a:t>
            </a:r>
            <a:endParaRPr lang="en-US" sz="1150" dirty="0"/>
          </a:p>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 O(n²)</a:t>
            </a:r>
            <a:endParaRPr lang="en-US" sz="1150" dirty="0"/>
          </a:p>
        </p:txBody>
      </p:sp>
      <p:sp>
        <p:nvSpPr>
          <p:cNvPr id="15" name="Shape 13"/>
          <p:cNvSpPr/>
          <p:nvPr/>
        </p:nvSpPr>
        <p:spPr>
          <a:xfrm>
            <a:off x="5212080" y="1828800"/>
            <a:ext cx="2212848" cy="4114800"/>
          </a:xfrm>
          <a:prstGeom prst="roundRect">
            <a:avLst>
              <a:gd name="adj" fmla="val 4959"/>
            </a:avLst>
          </a:prstGeom>
          <a:solidFill>
            <a:srgbClr val="1E2761"/>
          </a:solidFill>
          <a:ln/>
        </p:spPr>
      </p:sp>
      <p:sp>
        <p:nvSpPr>
          <p:cNvPr id="16" name="Text 14"/>
          <p:cNvSpPr/>
          <p:nvPr/>
        </p:nvSpPr>
        <p:spPr>
          <a:xfrm>
            <a:off x="5212080" y="2057400"/>
            <a:ext cx="2212848" cy="640080"/>
          </a:xfrm>
          <a:prstGeom prst="rect">
            <a:avLst/>
          </a:prstGeom>
          <a:noFill/>
          <a:ln/>
        </p:spPr>
        <p:txBody>
          <a:bodyPr wrap="square" rtlCol="0" anchor="ctr"/>
          <a:lstStyle/>
          <a:p>
            <a:pPr marL="0" indent="0" algn="ctr">
              <a:buNone/>
            </a:pPr>
            <a:r>
              <a:rPr lang="en-US" sz="3000" b="1" dirty="0">
                <a:solidFill>
                  <a:srgbClr val="F2B134"/>
                </a:solidFill>
                <a:latin typeface="Calibri" pitchFamily="34" charset="0"/>
                <a:ea typeface="Calibri" pitchFamily="34" charset="-122"/>
                <a:cs typeface="Calibri" pitchFamily="34" charset="-120"/>
              </a:rPr>
              <a:t>3</a:t>
            </a:r>
            <a:endParaRPr lang="en-US" sz="3000" dirty="0"/>
          </a:p>
        </p:txBody>
      </p:sp>
      <p:sp>
        <p:nvSpPr>
          <p:cNvPr id="17" name="Text 15"/>
          <p:cNvSpPr/>
          <p:nvPr/>
        </p:nvSpPr>
        <p:spPr>
          <a:xfrm>
            <a:off x="5394960" y="2743200"/>
            <a:ext cx="1847088" cy="100584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Cộng dồn khi tuần tự</a:t>
            </a:r>
            <a:endParaRPr lang="en-US" sz="1350" dirty="0"/>
          </a:p>
        </p:txBody>
      </p:sp>
      <p:sp>
        <p:nvSpPr>
          <p:cNvPr id="18" name="Shape 16"/>
          <p:cNvSpPr/>
          <p:nvPr/>
        </p:nvSpPr>
        <p:spPr>
          <a:xfrm>
            <a:off x="5577840" y="3840480"/>
            <a:ext cx="1481328" cy="0"/>
          </a:xfrm>
          <a:prstGeom prst="line">
            <a:avLst/>
          </a:prstGeom>
          <a:noFill/>
          <a:ln w="9525">
            <a:solidFill>
              <a:srgbClr val="FFFFFF">
                <a:alpha val="45000"/>
              </a:srgbClr>
            </a:solidFill>
            <a:prstDash val="solid"/>
          </a:ln>
        </p:spPr>
      </p:sp>
      <p:sp>
        <p:nvSpPr>
          <p:cNvPr id="19" name="Text 17"/>
          <p:cNvSpPr/>
          <p:nvPr/>
        </p:nvSpPr>
        <p:spPr>
          <a:xfrm>
            <a:off x="5394960" y="4023360"/>
            <a:ext cx="1847088" cy="1645920"/>
          </a:xfrm>
          <a:prstGeom prst="rect">
            <a:avLst/>
          </a:prstGeom>
          <a:noFill/>
          <a:ln/>
        </p:spPr>
        <p:txBody>
          <a:bodyPr wrap="square" rtlCol="0" anchor="ctr"/>
          <a:lstStyle/>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O(n) + O(n)</a:t>
            </a:r>
            <a:endParaRPr lang="en-US" sz="1150" dirty="0"/>
          </a:p>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 O(n)</a:t>
            </a:r>
            <a:endParaRPr lang="en-US" sz="1150" dirty="0"/>
          </a:p>
        </p:txBody>
      </p:sp>
      <p:sp>
        <p:nvSpPr>
          <p:cNvPr id="20" name="Shape 18"/>
          <p:cNvSpPr/>
          <p:nvPr/>
        </p:nvSpPr>
        <p:spPr>
          <a:xfrm>
            <a:off x="7589520" y="1828800"/>
            <a:ext cx="2212848" cy="4114800"/>
          </a:xfrm>
          <a:prstGeom prst="roundRect">
            <a:avLst>
              <a:gd name="adj" fmla="val 4959"/>
            </a:avLst>
          </a:prstGeom>
          <a:solidFill>
            <a:srgbClr val="3A4A8C"/>
          </a:solidFill>
          <a:ln/>
        </p:spPr>
      </p:sp>
      <p:sp>
        <p:nvSpPr>
          <p:cNvPr id="21" name="Text 19"/>
          <p:cNvSpPr/>
          <p:nvPr/>
        </p:nvSpPr>
        <p:spPr>
          <a:xfrm>
            <a:off x="7589520" y="2057400"/>
            <a:ext cx="2212848" cy="640080"/>
          </a:xfrm>
          <a:prstGeom prst="rect">
            <a:avLst/>
          </a:prstGeom>
          <a:noFill/>
          <a:ln/>
        </p:spPr>
        <p:txBody>
          <a:bodyPr wrap="square" rtlCol="0" anchor="ctr"/>
          <a:lstStyle/>
          <a:p>
            <a:pPr marL="0" indent="0" algn="ctr">
              <a:buNone/>
            </a:pPr>
            <a:r>
              <a:rPr lang="en-US" sz="3000" b="1" dirty="0">
                <a:solidFill>
                  <a:srgbClr val="F2B134"/>
                </a:solidFill>
                <a:latin typeface="Calibri" pitchFamily="34" charset="0"/>
                <a:ea typeface="Calibri" pitchFamily="34" charset="-122"/>
                <a:cs typeface="Calibri" pitchFamily="34" charset="-120"/>
              </a:rPr>
              <a:t>4</a:t>
            </a:r>
            <a:endParaRPr lang="en-US" sz="3000" dirty="0"/>
          </a:p>
        </p:txBody>
      </p:sp>
      <p:sp>
        <p:nvSpPr>
          <p:cNvPr id="22" name="Text 20"/>
          <p:cNvSpPr/>
          <p:nvPr/>
        </p:nvSpPr>
        <p:spPr>
          <a:xfrm>
            <a:off x="7772400" y="2743200"/>
            <a:ext cx="1847088" cy="100584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Nhân khi lồng nhau</a:t>
            </a:r>
            <a:endParaRPr lang="en-US" sz="1350" dirty="0"/>
          </a:p>
        </p:txBody>
      </p:sp>
      <p:sp>
        <p:nvSpPr>
          <p:cNvPr id="23" name="Shape 21"/>
          <p:cNvSpPr/>
          <p:nvPr/>
        </p:nvSpPr>
        <p:spPr>
          <a:xfrm>
            <a:off x="7955280" y="3840480"/>
            <a:ext cx="1481328" cy="0"/>
          </a:xfrm>
          <a:prstGeom prst="line">
            <a:avLst/>
          </a:prstGeom>
          <a:noFill/>
          <a:ln w="9525">
            <a:solidFill>
              <a:srgbClr val="FFFFFF">
                <a:alpha val="45000"/>
              </a:srgbClr>
            </a:solidFill>
            <a:prstDash val="solid"/>
          </a:ln>
        </p:spPr>
      </p:sp>
      <p:sp>
        <p:nvSpPr>
          <p:cNvPr id="24" name="Text 22"/>
          <p:cNvSpPr/>
          <p:nvPr/>
        </p:nvSpPr>
        <p:spPr>
          <a:xfrm>
            <a:off x="7772400" y="4023360"/>
            <a:ext cx="1847088" cy="1645920"/>
          </a:xfrm>
          <a:prstGeom prst="rect">
            <a:avLst/>
          </a:prstGeom>
          <a:noFill/>
          <a:ln/>
        </p:spPr>
        <p:txBody>
          <a:bodyPr wrap="square" rtlCol="0" anchor="ctr"/>
          <a:lstStyle/>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O(n) × O(n)</a:t>
            </a:r>
            <a:endParaRPr lang="en-US" sz="1150" dirty="0"/>
          </a:p>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 O(n²)</a:t>
            </a:r>
            <a:endParaRPr lang="en-US" sz="1150" dirty="0"/>
          </a:p>
        </p:txBody>
      </p:sp>
      <p:sp>
        <p:nvSpPr>
          <p:cNvPr id="25" name="Shape 23"/>
          <p:cNvSpPr/>
          <p:nvPr/>
        </p:nvSpPr>
        <p:spPr>
          <a:xfrm>
            <a:off x="9966960" y="1828800"/>
            <a:ext cx="2212848" cy="4114800"/>
          </a:xfrm>
          <a:prstGeom prst="roundRect">
            <a:avLst>
              <a:gd name="adj" fmla="val 4959"/>
            </a:avLst>
          </a:prstGeom>
          <a:solidFill>
            <a:srgbClr val="1E2761"/>
          </a:solidFill>
          <a:ln/>
        </p:spPr>
      </p:sp>
      <p:sp>
        <p:nvSpPr>
          <p:cNvPr id="26" name="Text 24"/>
          <p:cNvSpPr/>
          <p:nvPr/>
        </p:nvSpPr>
        <p:spPr>
          <a:xfrm>
            <a:off x="9966960" y="2057400"/>
            <a:ext cx="2212848" cy="640080"/>
          </a:xfrm>
          <a:prstGeom prst="rect">
            <a:avLst/>
          </a:prstGeom>
          <a:noFill/>
          <a:ln/>
        </p:spPr>
        <p:txBody>
          <a:bodyPr wrap="square" rtlCol="0" anchor="ctr"/>
          <a:lstStyle/>
          <a:p>
            <a:pPr marL="0" indent="0" algn="ctr">
              <a:buNone/>
            </a:pPr>
            <a:r>
              <a:rPr lang="en-US" sz="3000" b="1" dirty="0">
                <a:solidFill>
                  <a:srgbClr val="F2B134"/>
                </a:solidFill>
                <a:latin typeface="Calibri" pitchFamily="34" charset="0"/>
                <a:ea typeface="Calibri" pitchFamily="34" charset="-122"/>
                <a:cs typeface="Calibri" pitchFamily="34" charset="-120"/>
              </a:rPr>
              <a:t>5</a:t>
            </a:r>
            <a:endParaRPr lang="en-US" sz="3000" dirty="0"/>
          </a:p>
        </p:txBody>
      </p:sp>
      <p:sp>
        <p:nvSpPr>
          <p:cNvPr id="27" name="Text 25"/>
          <p:cNvSpPr/>
          <p:nvPr/>
        </p:nvSpPr>
        <p:spPr>
          <a:xfrm>
            <a:off x="10149840" y="2743200"/>
            <a:ext cx="1847088" cy="100584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Lấy độ phức tạp lớn nhất khi rẽ nhánh</a:t>
            </a:r>
            <a:endParaRPr lang="en-US" sz="1350" dirty="0"/>
          </a:p>
        </p:txBody>
      </p:sp>
      <p:sp>
        <p:nvSpPr>
          <p:cNvPr id="28" name="Shape 26"/>
          <p:cNvSpPr/>
          <p:nvPr/>
        </p:nvSpPr>
        <p:spPr>
          <a:xfrm>
            <a:off x="10332720" y="3840480"/>
            <a:ext cx="1481328" cy="0"/>
          </a:xfrm>
          <a:prstGeom prst="line">
            <a:avLst/>
          </a:prstGeom>
          <a:noFill/>
          <a:ln w="9525">
            <a:solidFill>
              <a:srgbClr val="FFFFFF">
                <a:alpha val="45000"/>
              </a:srgbClr>
            </a:solidFill>
            <a:prstDash val="solid"/>
          </a:ln>
        </p:spPr>
      </p:sp>
      <p:sp>
        <p:nvSpPr>
          <p:cNvPr id="29" name="Text 27"/>
          <p:cNvSpPr/>
          <p:nvPr/>
        </p:nvSpPr>
        <p:spPr>
          <a:xfrm>
            <a:off x="10149840" y="4023360"/>
            <a:ext cx="1847088" cy="1645920"/>
          </a:xfrm>
          <a:prstGeom prst="rect">
            <a:avLst/>
          </a:prstGeom>
          <a:noFill/>
          <a:ln/>
        </p:spPr>
        <p:txBody>
          <a:bodyPr wrap="square" rtlCol="0" anchor="ctr"/>
          <a:lstStyle/>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if: O(n) else: O(n²)</a:t>
            </a:r>
            <a:endParaRPr lang="en-US" sz="1150" dirty="0"/>
          </a:p>
          <a:p>
            <a:pPr marL="0" indent="0" algn="ctr">
              <a:lnSpc>
                <a:spcPct val="135000"/>
              </a:lnSpc>
              <a:buNone/>
            </a:pPr>
            <a:r>
              <a:rPr lang="en-US" sz="1150" dirty="0">
                <a:solidFill>
                  <a:srgbClr val="CADCFC"/>
                </a:solidFill>
                <a:latin typeface="Consolas" pitchFamily="34" charset="0"/>
                <a:ea typeface="Consolas" pitchFamily="34" charset="-122"/>
                <a:cs typeface="Consolas" pitchFamily="34" charset="-120"/>
              </a:rPr>
              <a:t>→ O(n²)</a:t>
            </a:r>
            <a:endParaRPr lang="en-US" sz="1150" dirty="0"/>
          </a:p>
        </p:txBody>
      </p:sp>
      <p:sp>
        <p:nvSpPr>
          <p:cNvPr id="30" name="Text 28"/>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7</a:t>
            </a:r>
            <a:endParaRPr lang="en-US" sz="1000" dirty="0"/>
          </a:p>
        </p:txBody>
      </p:sp>
      <p:sp>
        <p:nvSpPr>
          <p:cNvPr id="31" name="Text 29"/>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PHÂN LOẠI</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Các lớp độ phức tạp thường gặp</a:t>
            </a:r>
            <a:endParaRPr lang="en-US" sz="3000" dirty="0"/>
          </a:p>
        </p:txBody>
      </p:sp>
      <p:sp>
        <p:nvSpPr>
          <p:cNvPr id="5" name="Text 3"/>
          <p:cNvSpPr/>
          <p:nvPr/>
        </p:nvSpPr>
        <p:spPr>
          <a:xfrm>
            <a:off x="457200" y="1691640"/>
            <a:ext cx="11274552" cy="320040"/>
          </a:xfrm>
          <a:prstGeom prst="rect">
            <a:avLst/>
          </a:prstGeom>
          <a:noFill/>
          <a:ln/>
        </p:spPr>
        <p:txBody>
          <a:bodyPr wrap="square" rtlCol="0" anchor="ctr"/>
          <a:lstStyle/>
          <a:p>
            <a:pPr marL="0" indent="0">
              <a:buNone/>
            </a:pPr>
            <a:r>
              <a:rPr lang="en-US" sz="1300" i="1" dirty="0">
                <a:solidFill>
                  <a:srgbClr val="5B6B8C"/>
                </a:solidFill>
                <a:latin typeface="Calibri" pitchFamily="34" charset="0"/>
                <a:ea typeface="Calibri" pitchFamily="34" charset="-122"/>
                <a:cs typeface="Calibri" pitchFamily="34" charset="-120"/>
              </a:rPr>
              <a:t>Xếp theo thứ tự tăng dần — từ nhanh nhất đến chậm nhất</a:t>
            </a:r>
            <a:endParaRPr lang="en-US" sz="1300" dirty="0"/>
          </a:p>
        </p:txBody>
      </p:sp>
      <p:sp>
        <p:nvSpPr>
          <p:cNvPr id="6" name="Shape 4"/>
          <p:cNvSpPr/>
          <p:nvPr/>
        </p:nvSpPr>
        <p:spPr>
          <a:xfrm>
            <a:off x="457200" y="2148840"/>
            <a:ext cx="1737360" cy="548640"/>
          </a:xfrm>
          <a:prstGeom prst="roundRect">
            <a:avLst>
              <a:gd name="adj" fmla="val 13333"/>
            </a:avLst>
          </a:prstGeom>
          <a:solidFill>
            <a:srgbClr val="2E7D5B"/>
          </a:solidFill>
          <a:ln/>
        </p:spPr>
      </p:sp>
      <p:sp>
        <p:nvSpPr>
          <p:cNvPr id="7" name="Text 5"/>
          <p:cNvSpPr/>
          <p:nvPr/>
        </p:nvSpPr>
        <p:spPr>
          <a:xfrm>
            <a:off x="457200" y="2148840"/>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O(1)</a:t>
            </a:r>
            <a:endParaRPr lang="en-US" sz="1400" dirty="0"/>
          </a:p>
        </p:txBody>
      </p:sp>
      <p:sp>
        <p:nvSpPr>
          <p:cNvPr id="8" name="Text 6"/>
          <p:cNvSpPr/>
          <p:nvPr/>
        </p:nvSpPr>
        <p:spPr>
          <a:xfrm>
            <a:off x="2377440" y="2148840"/>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Hằng số</a:t>
            </a:r>
            <a:endParaRPr lang="en-US" sz="1250" dirty="0"/>
          </a:p>
        </p:txBody>
      </p:sp>
      <p:sp>
        <p:nvSpPr>
          <p:cNvPr id="9" name="Text 7"/>
          <p:cNvSpPr/>
          <p:nvPr/>
        </p:nvSpPr>
        <p:spPr>
          <a:xfrm>
            <a:off x="4800600" y="2148840"/>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Truy cập phần tử mảng theo chỉ số</a:t>
            </a:r>
            <a:endParaRPr lang="en-US" sz="1200" dirty="0"/>
          </a:p>
        </p:txBody>
      </p:sp>
      <p:sp>
        <p:nvSpPr>
          <p:cNvPr id="10" name="Shape 8"/>
          <p:cNvSpPr/>
          <p:nvPr/>
        </p:nvSpPr>
        <p:spPr>
          <a:xfrm>
            <a:off x="457200" y="2752344"/>
            <a:ext cx="1737360" cy="548640"/>
          </a:xfrm>
          <a:prstGeom prst="roundRect">
            <a:avLst>
              <a:gd name="adj" fmla="val 13333"/>
            </a:avLst>
          </a:prstGeom>
          <a:solidFill>
            <a:srgbClr val="3E8E6B"/>
          </a:solidFill>
          <a:ln/>
        </p:spPr>
      </p:sp>
      <p:sp>
        <p:nvSpPr>
          <p:cNvPr id="11" name="Text 9"/>
          <p:cNvSpPr/>
          <p:nvPr/>
        </p:nvSpPr>
        <p:spPr>
          <a:xfrm>
            <a:off x="457200" y="2752344"/>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O(log n)</a:t>
            </a:r>
            <a:endParaRPr lang="en-US" sz="1400" dirty="0"/>
          </a:p>
        </p:txBody>
      </p:sp>
      <p:sp>
        <p:nvSpPr>
          <p:cNvPr id="12" name="Text 10"/>
          <p:cNvSpPr/>
          <p:nvPr/>
        </p:nvSpPr>
        <p:spPr>
          <a:xfrm>
            <a:off x="2377440" y="2752344"/>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Logarit</a:t>
            </a:r>
            <a:endParaRPr lang="en-US" sz="1250" dirty="0"/>
          </a:p>
        </p:txBody>
      </p:sp>
      <p:sp>
        <p:nvSpPr>
          <p:cNvPr id="13" name="Text 11"/>
          <p:cNvSpPr/>
          <p:nvPr/>
        </p:nvSpPr>
        <p:spPr>
          <a:xfrm>
            <a:off x="4800600" y="2752344"/>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Tìm kiếm nhị phân (Binary Search)</a:t>
            </a:r>
            <a:endParaRPr lang="en-US" sz="1200" dirty="0"/>
          </a:p>
        </p:txBody>
      </p:sp>
      <p:sp>
        <p:nvSpPr>
          <p:cNvPr id="14" name="Shape 12"/>
          <p:cNvSpPr/>
          <p:nvPr/>
        </p:nvSpPr>
        <p:spPr>
          <a:xfrm>
            <a:off x="457200" y="3355848"/>
            <a:ext cx="1737360" cy="548640"/>
          </a:xfrm>
          <a:prstGeom prst="roundRect">
            <a:avLst>
              <a:gd name="adj" fmla="val 13333"/>
            </a:avLst>
          </a:prstGeom>
          <a:solidFill>
            <a:srgbClr val="1E2761"/>
          </a:solidFill>
          <a:ln/>
        </p:spPr>
      </p:sp>
      <p:sp>
        <p:nvSpPr>
          <p:cNvPr id="15" name="Text 13"/>
          <p:cNvSpPr/>
          <p:nvPr/>
        </p:nvSpPr>
        <p:spPr>
          <a:xfrm>
            <a:off x="457200" y="3355848"/>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O(n)</a:t>
            </a:r>
            <a:endParaRPr lang="en-US" sz="1400" dirty="0"/>
          </a:p>
        </p:txBody>
      </p:sp>
      <p:sp>
        <p:nvSpPr>
          <p:cNvPr id="16" name="Text 14"/>
          <p:cNvSpPr/>
          <p:nvPr/>
        </p:nvSpPr>
        <p:spPr>
          <a:xfrm>
            <a:off x="2377440" y="3355848"/>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Tuyến tính</a:t>
            </a:r>
            <a:endParaRPr lang="en-US" sz="1250" dirty="0"/>
          </a:p>
        </p:txBody>
      </p:sp>
      <p:sp>
        <p:nvSpPr>
          <p:cNvPr id="17" name="Text 15"/>
          <p:cNvSpPr/>
          <p:nvPr/>
        </p:nvSpPr>
        <p:spPr>
          <a:xfrm>
            <a:off x="4800600" y="3355848"/>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Duyệt mảng, tìm kiếm tuần tự</a:t>
            </a:r>
            <a:endParaRPr lang="en-US" sz="1200" dirty="0"/>
          </a:p>
        </p:txBody>
      </p:sp>
      <p:sp>
        <p:nvSpPr>
          <p:cNvPr id="18" name="Shape 16"/>
          <p:cNvSpPr/>
          <p:nvPr/>
        </p:nvSpPr>
        <p:spPr>
          <a:xfrm>
            <a:off x="457200" y="3959352"/>
            <a:ext cx="1737360" cy="548640"/>
          </a:xfrm>
          <a:prstGeom prst="roundRect">
            <a:avLst>
              <a:gd name="adj" fmla="val 13333"/>
            </a:avLst>
          </a:prstGeom>
          <a:solidFill>
            <a:srgbClr val="3A4A8C"/>
          </a:solidFill>
          <a:ln/>
        </p:spPr>
      </p:sp>
      <p:sp>
        <p:nvSpPr>
          <p:cNvPr id="19" name="Text 17"/>
          <p:cNvSpPr/>
          <p:nvPr/>
        </p:nvSpPr>
        <p:spPr>
          <a:xfrm>
            <a:off x="457200" y="3959352"/>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O(n log n)</a:t>
            </a:r>
            <a:endParaRPr lang="en-US" sz="1400" dirty="0"/>
          </a:p>
        </p:txBody>
      </p:sp>
      <p:sp>
        <p:nvSpPr>
          <p:cNvPr id="20" name="Text 18"/>
          <p:cNvSpPr/>
          <p:nvPr/>
        </p:nvSpPr>
        <p:spPr>
          <a:xfrm>
            <a:off x="2377440" y="3959352"/>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Tuyến tính-logarit</a:t>
            </a:r>
            <a:endParaRPr lang="en-US" sz="1250" dirty="0"/>
          </a:p>
        </p:txBody>
      </p:sp>
      <p:sp>
        <p:nvSpPr>
          <p:cNvPr id="21" name="Text 19"/>
          <p:cNvSpPr/>
          <p:nvPr/>
        </p:nvSpPr>
        <p:spPr>
          <a:xfrm>
            <a:off x="4800600" y="3959352"/>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Merge Sort, Quick Sort, Heap Sort</a:t>
            </a:r>
            <a:endParaRPr lang="en-US" sz="1200" dirty="0"/>
          </a:p>
        </p:txBody>
      </p:sp>
      <p:sp>
        <p:nvSpPr>
          <p:cNvPr id="22" name="Shape 20"/>
          <p:cNvSpPr/>
          <p:nvPr/>
        </p:nvSpPr>
        <p:spPr>
          <a:xfrm>
            <a:off x="457200" y="4562856"/>
            <a:ext cx="1737360" cy="548640"/>
          </a:xfrm>
          <a:prstGeom prst="roundRect">
            <a:avLst>
              <a:gd name="adj" fmla="val 13333"/>
            </a:avLst>
          </a:prstGeom>
          <a:solidFill>
            <a:srgbClr val="8C5A3A"/>
          </a:solidFill>
          <a:ln/>
        </p:spPr>
      </p:sp>
      <p:sp>
        <p:nvSpPr>
          <p:cNvPr id="23" name="Text 21"/>
          <p:cNvSpPr/>
          <p:nvPr/>
        </p:nvSpPr>
        <p:spPr>
          <a:xfrm>
            <a:off x="457200" y="4562856"/>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O(n²)</a:t>
            </a:r>
            <a:endParaRPr lang="en-US" sz="1400" dirty="0"/>
          </a:p>
        </p:txBody>
      </p:sp>
      <p:sp>
        <p:nvSpPr>
          <p:cNvPr id="24" name="Text 22"/>
          <p:cNvSpPr/>
          <p:nvPr/>
        </p:nvSpPr>
        <p:spPr>
          <a:xfrm>
            <a:off x="2377440" y="4562856"/>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Bậc hai</a:t>
            </a:r>
            <a:endParaRPr lang="en-US" sz="1250" dirty="0"/>
          </a:p>
        </p:txBody>
      </p:sp>
      <p:sp>
        <p:nvSpPr>
          <p:cNvPr id="25" name="Text 23"/>
          <p:cNvSpPr/>
          <p:nvPr/>
        </p:nvSpPr>
        <p:spPr>
          <a:xfrm>
            <a:off x="4800600" y="4562856"/>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Bubble Sort, Selection Sort, Insertion Sort</a:t>
            </a:r>
            <a:endParaRPr lang="en-US" sz="1200" dirty="0"/>
          </a:p>
        </p:txBody>
      </p:sp>
      <p:sp>
        <p:nvSpPr>
          <p:cNvPr id="26" name="Shape 24"/>
          <p:cNvSpPr/>
          <p:nvPr/>
        </p:nvSpPr>
        <p:spPr>
          <a:xfrm>
            <a:off x="457200" y="5166360"/>
            <a:ext cx="1737360" cy="548640"/>
          </a:xfrm>
          <a:prstGeom prst="roundRect">
            <a:avLst>
              <a:gd name="adj" fmla="val 13333"/>
            </a:avLst>
          </a:prstGeom>
          <a:solidFill>
            <a:srgbClr val="B23A48"/>
          </a:solidFill>
          <a:ln/>
        </p:spPr>
      </p:sp>
      <p:sp>
        <p:nvSpPr>
          <p:cNvPr id="27" name="Text 25"/>
          <p:cNvSpPr/>
          <p:nvPr/>
        </p:nvSpPr>
        <p:spPr>
          <a:xfrm>
            <a:off x="457200" y="5166360"/>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O(2ⁿ)</a:t>
            </a:r>
            <a:endParaRPr lang="en-US" sz="1400" dirty="0"/>
          </a:p>
        </p:txBody>
      </p:sp>
      <p:sp>
        <p:nvSpPr>
          <p:cNvPr id="28" name="Text 26"/>
          <p:cNvSpPr/>
          <p:nvPr/>
        </p:nvSpPr>
        <p:spPr>
          <a:xfrm>
            <a:off x="2377440" y="5166360"/>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Mũ</a:t>
            </a:r>
            <a:endParaRPr lang="en-US" sz="1250" dirty="0"/>
          </a:p>
        </p:txBody>
      </p:sp>
      <p:sp>
        <p:nvSpPr>
          <p:cNvPr id="29" name="Text 27"/>
          <p:cNvSpPr/>
          <p:nvPr/>
        </p:nvSpPr>
        <p:spPr>
          <a:xfrm>
            <a:off x="4800600" y="5166360"/>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Fibonacci đệ quy chưa tối ưu, duyệt tập con</a:t>
            </a:r>
            <a:endParaRPr lang="en-US" sz="1200" dirty="0"/>
          </a:p>
        </p:txBody>
      </p:sp>
      <p:sp>
        <p:nvSpPr>
          <p:cNvPr id="30" name="Shape 28"/>
          <p:cNvSpPr/>
          <p:nvPr/>
        </p:nvSpPr>
        <p:spPr>
          <a:xfrm>
            <a:off x="457200" y="5769864"/>
            <a:ext cx="1737360" cy="548640"/>
          </a:xfrm>
          <a:prstGeom prst="roundRect">
            <a:avLst>
              <a:gd name="adj" fmla="val 13333"/>
            </a:avLst>
          </a:prstGeom>
          <a:solidFill>
            <a:srgbClr val="6B1E2A"/>
          </a:solidFill>
          <a:ln/>
        </p:spPr>
      </p:sp>
      <p:sp>
        <p:nvSpPr>
          <p:cNvPr id="31" name="Text 29"/>
          <p:cNvSpPr/>
          <p:nvPr/>
        </p:nvSpPr>
        <p:spPr>
          <a:xfrm>
            <a:off x="457200" y="5769864"/>
            <a:ext cx="1737360" cy="548640"/>
          </a:xfrm>
          <a:prstGeom prst="rect">
            <a:avLst/>
          </a:prstGeom>
          <a:noFill/>
          <a:ln/>
        </p:spPr>
        <p:txBody>
          <a:bodyPr wrap="square" rtlCol="0" anchor="ctr"/>
          <a:lstStyle/>
          <a:p>
            <a:pPr marL="0" indent="0" algn="ctr">
              <a:buNone/>
            </a:pPr>
            <a:r>
              <a:rPr lang="en-US" sz="1400" b="1" dirty="0">
                <a:solidFill>
                  <a:srgbClr val="FFFFFF"/>
                </a:solidFill>
                <a:latin typeface="Consolas" pitchFamily="34" charset="0"/>
                <a:ea typeface="Consolas" pitchFamily="34" charset="-122"/>
                <a:cs typeface="Consolas" pitchFamily="34" charset="-120"/>
              </a:rPr>
              <a:t>O(n!)</a:t>
            </a:r>
            <a:endParaRPr lang="en-US" sz="1400" dirty="0"/>
          </a:p>
        </p:txBody>
      </p:sp>
      <p:sp>
        <p:nvSpPr>
          <p:cNvPr id="32" name="Text 30"/>
          <p:cNvSpPr/>
          <p:nvPr/>
        </p:nvSpPr>
        <p:spPr>
          <a:xfrm>
            <a:off x="2377440" y="5769864"/>
            <a:ext cx="2286000" cy="548640"/>
          </a:xfrm>
          <a:prstGeom prst="rect">
            <a:avLst/>
          </a:prstGeom>
          <a:noFill/>
          <a:ln/>
        </p:spPr>
        <p:txBody>
          <a:bodyPr wrap="square"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Giai thừa</a:t>
            </a:r>
            <a:endParaRPr lang="en-US" sz="1250" dirty="0"/>
          </a:p>
        </p:txBody>
      </p:sp>
      <p:sp>
        <p:nvSpPr>
          <p:cNvPr id="33" name="Text 31"/>
          <p:cNvSpPr/>
          <p:nvPr/>
        </p:nvSpPr>
        <p:spPr>
          <a:xfrm>
            <a:off x="4800600" y="5769864"/>
            <a:ext cx="6931152" cy="548640"/>
          </a:xfrm>
          <a:prstGeom prst="rect">
            <a:avLst/>
          </a:prstGeom>
          <a:noFill/>
          <a:ln/>
        </p:spPr>
        <p:txBody>
          <a:bodyPr wrap="square" rtlCol="0" anchor="ctr"/>
          <a:lstStyle/>
          <a:p>
            <a:pPr marL="0" indent="0">
              <a:buNone/>
            </a:pPr>
            <a:r>
              <a:rPr lang="en-US" sz="1200" dirty="0">
                <a:solidFill>
                  <a:srgbClr val="5B6B8C"/>
                </a:solidFill>
                <a:latin typeface="Calibri" pitchFamily="34" charset="0"/>
                <a:ea typeface="Calibri" pitchFamily="34" charset="-122"/>
                <a:cs typeface="Calibri" pitchFamily="34" charset="-120"/>
              </a:rPr>
              <a:t>Bài toán người bán hàng (brute-force)</a:t>
            </a:r>
            <a:endParaRPr lang="en-US" sz="1200" dirty="0"/>
          </a:p>
        </p:txBody>
      </p:sp>
      <p:sp>
        <p:nvSpPr>
          <p:cNvPr id="34" name="Text 32"/>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8</a:t>
            </a:r>
            <a:endParaRPr lang="en-US" sz="1000" dirty="0"/>
          </a:p>
        </p:txBody>
      </p:sp>
      <p:sp>
        <p:nvSpPr>
          <p:cNvPr id="35" name="Text 33"/>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TRỰC QUAN</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Tốc độ tăng trưởng khi n tăng lên</a:t>
            </a:r>
            <a:endParaRPr lang="en-US" sz="3000" dirty="0"/>
          </a:p>
        </p:txBody>
      </p:sp>
      <p:graphicFrame>
        <p:nvGraphicFramePr>
          <p:cNvPr id="5" name="Chart 0"/>
          <p:cNvGraphicFramePr/>
          <p:nvPr/>
        </p:nvGraphicFramePr>
        <p:xfrm>
          <a:off x="457200" y="173736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635240" y="1737360"/>
            <a:ext cx="4114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Khi n = 1.000</a:t>
            </a:r>
            <a:endParaRPr lang="en-US" sz="1500" dirty="0"/>
          </a:p>
        </p:txBody>
      </p:sp>
      <p:sp>
        <p:nvSpPr>
          <p:cNvPr id="7" name="Shape 4"/>
          <p:cNvSpPr/>
          <p:nvPr/>
        </p:nvSpPr>
        <p:spPr>
          <a:xfrm>
            <a:off x="7635240" y="2194560"/>
            <a:ext cx="4114800" cy="512064"/>
          </a:xfrm>
          <a:prstGeom prst="roundRect">
            <a:avLst>
              <a:gd name="adj" fmla="val 12500"/>
            </a:avLst>
          </a:prstGeom>
          <a:solidFill>
            <a:srgbClr val="F4F6FC"/>
          </a:solidFill>
          <a:ln/>
        </p:spPr>
      </p:sp>
      <p:sp>
        <p:nvSpPr>
          <p:cNvPr id="8" name="Text 5"/>
          <p:cNvSpPr/>
          <p:nvPr/>
        </p:nvSpPr>
        <p:spPr>
          <a:xfrm>
            <a:off x="7818120" y="2194560"/>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O(1)</a:t>
            </a:r>
            <a:endParaRPr lang="en-US" sz="1250" dirty="0"/>
          </a:p>
        </p:txBody>
      </p:sp>
      <p:sp>
        <p:nvSpPr>
          <p:cNvPr id="9" name="Text 6"/>
          <p:cNvSpPr/>
          <p:nvPr/>
        </p:nvSpPr>
        <p:spPr>
          <a:xfrm>
            <a:off x="9692640" y="2194560"/>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1</a:t>
            </a:r>
            <a:endParaRPr lang="en-US" sz="1200" dirty="0"/>
          </a:p>
        </p:txBody>
      </p:sp>
      <p:sp>
        <p:nvSpPr>
          <p:cNvPr id="10" name="Shape 7"/>
          <p:cNvSpPr/>
          <p:nvPr/>
        </p:nvSpPr>
        <p:spPr>
          <a:xfrm>
            <a:off x="7635240" y="2816352"/>
            <a:ext cx="4114800" cy="512064"/>
          </a:xfrm>
          <a:prstGeom prst="roundRect">
            <a:avLst>
              <a:gd name="adj" fmla="val 12500"/>
            </a:avLst>
          </a:prstGeom>
          <a:solidFill>
            <a:srgbClr val="F4F6FC"/>
          </a:solidFill>
          <a:ln/>
        </p:spPr>
      </p:sp>
      <p:sp>
        <p:nvSpPr>
          <p:cNvPr id="11" name="Text 8"/>
          <p:cNvSpPr/>
          <p:nvPr/>
        </p:nvSpPr>
        <p:spPr>
          <a:xfrm>
            <a:off x="7818120" y="2816352"/>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O(log n)</a:t>
            </a:r>
            <a:endParaRPr lang="en-US" sz="1250" dirty="0"/>
          </a:p>
        </p:txBody>
      </p:sp>
      <p:sp>
        <p:nvSpPr>
          <p:cNvPr id="12" name="Text 9"/>
          <p:cNvSpPr/>
          <p:nvPr/>
        </p:nvSpPr>
        <p:spPr>
          <a:xfrm>
            <a:off x="9692640" y="2816352"/>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~10</a:t>
            </a:r>
            <a:endParaRPr lang="en-US" sz="1200" dirty="0"/>
          </a:p>
        </p:txBody>
      </p:sp>
      <p:sp>
        <p:nvSpPr>
          <p:cNvPr id="13" name="Shape 10"/>
          <p:cNvSpPr/>
          <p:nvPr/>
        </p:nvSpPr>
        <p:spPr>
          <a:xfrm>
            <a:off x="7635240" y="3438144"/>
            <a:ext cx="4114800" cy="512064"/>
          </a:xfrm>
          <a:prstGeom prst="roundRect">
            <a:avLst>
              <a:gd name="adj" fmla="val 12500"/>
            </a:avLst>
          </a:prstGeom>
          <a:solidFill>
            <a:srgbClr val="F4F6FC"/>
          </a:solidFill>
          <a:ln/>
        </p:spPr>
      </p:sp>
      <p:sp>
        <p:nvSpPr>
          <p:cNvPr id="14" name="Text 11"/>
          <p:cNvSpPr/>
          <p:nvPr/>
        </p:nvSpPr>
        <p:spPr>
          <a:xfrm>
            <a:off x="7818120" y="3438144"/>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O(n)</a:t>
            </a:r>
            <a:endParaRPr lang="en-US" sz="1250" dirty="0"/>
          </a:p>
        </p:txBody>
      </p:sp>
      <p:sp>
        <p:nvSpPr>
          <p:cNvPr id="15" name="Text 12"/>
          <p:cNvSpPr/>
          <p:nvPr/>
        </p:nvSpPr>
        <p:spPr>
          <a:xfrm>
            <a:off x="9692640" y="3438144"/>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1.000</a:t>
            </a:r>
            <a:endParaRPr lang="en-US" sz="1200" dirty="0"/>
          </a:p>
        </p:txBody>
      </p:sp>
      <p:sp>
        <p:nvSpPr>
          <p:cNvPr id="16" name="Shape 13"/>
          <p:cNvSpPr/>
          <p:nvPr/>
        </p:nvSpPr>
        <p:spPr>
          <a:xfrm>
            <a:off x="7635240" y="4059936"/>
            <a:ext cx="4114800" cy="512064"/>
          </a:xfrm>
          <a:prstGeom prst="roundRect">
            <a:avLst>
              <a:gd name="adj" fmla="val 12500"/>
            </a:avLst>
          </a:prstGeom>
          <a:solidFill>
            <a:srgbClr val="F4F6FC"/>
          </a:solidFill>
          <a:ln/>
        </p:spPr>
      </p:sp>
      <p:sp>
        <p:nvSpPr>
          <p:cNvPr id="17" name="Text 14"/>
          <p:cNvSpPr/>
          <p:nvPr/>
        </p:nvSpPr>
        <p:spPr>
          <a:xfrm>
            <a:off x="7818120" y="4059936"/>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O(n log n)</a:t>
            </a:r>
            <a:endParaRPr lang="en-US" sz="1250" dirty="0"/>
          </a:p>
        </p:txBody>
      </p:sp>
      <p:sp>
        <p:nvSpPr>
          <p:cNvPr id="18" name="Text 15"/>
          <p:cNvSpPr/>
          <p:nvPr/>
        </p:nvSpPr>
        <p:spPr>
          <a:xfrm>
            <a:off x="9692640" y="4059936"/>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~10.000</a:t>
            </a:r>
            <a:endParaRPr lang="en-US" sz="1200" dirty="0"/>
          </a:p>
        </p:txBody>
      </p:sp>
      <p:sp>
        <p:nvSpPr>
          <p:cNvPr id="19" name="Shape 16"/>
          <p:cNvSpPr/>
          <p:nvPr/>
        </p:nvSpPr>
        <p:spPr>
          <a:xfrm>
            <a:off x="7635240" y="4681728"/>
            <a:ext cx="4114800" cy="512064"/>
          </a:xfrm>
          <a:prstGeom prst="roundRect">
            <a:avLst>
              <a:gd name="adj" fmla="val 12500"/>
            </a:avLst>
          </a:prstGeom>
          <a:solidFill>
            <a:srgbClr val="F4F6FC"/>
          </a:solidFill>
          <a:ln/>
        </p:spPr>
      </p:sp>
      <p:sp>
        <p:nvSpPr>
          <p:cNvPr id="20" name="Text 17"/>
          <p:cNvSpPr/>
          <p:nvPr/>
        </p:nvSpPr>
        <p:spPr>
          <a:xfrm>
            <a:off x="7818120" y="4681728"/>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O(n²)</a:t>
            </a:r>
            <a:endParaRPr lang="en-US" sz="1250" dirty="0"/>
          </a:p>
        </p:txBody>
      </p:sp>
      <p:sp>
        <p:nvSpPr>
          <p:cNvPr id="21" name="Text 18"/>
          <p:cNvSpPr/>
          <p:nvPr/>
        </p:nvSpPr>
        <p:spPr>
          <a:xfrm>
            <a:off x="9692640" y="4681728"/>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1.000.000</a:t>
            </a:r>
            <a:endParaRPr lang="en-US" sz="1200" dirty="0"/>
          </a:p>
        </p:txBody>
      </p:sp>
      <p:sp>
        <p:nvSpPr>
          <p:cNvPr id="22" name="Shape 19"/>
          <p:cNvSpPr/>
          <p:nvPr/>
        </p:nvSpPr>
        <p:spPr>
          <a:xfrm>
            <a:off x="7635240" y="5303520"/>
            <a:ext cx="4114800" cy="512064"/>
          </a:xfrm>
          <a:prstGeom prst="roundRect">
            <a:avLst>
              <a:gd name="adj" fmla="val 12500"/>
            </a:avLst>
          </a:prstGeom>
          <a:solidFill>
            <a:srgbClr val="F4F6FC"/>
          </a:solidFill>
          <a:ln/>
        </p:spPr>
      </p:sp>
      <p:sp>
        <p:nvSpPr>
          <p:cNvPr id="23" name="Text 20"/>
          <p:cNvSpPr/>
          <p:nvPr/>
        </p:nvSpPr>
        <p:spPr>
          <a:xfrm>
            <a:off x="7818120" y="5303520"/>
            <a:ext cx="1828800" cy="512064"/>
          </a:xfrm>
          <a:prstGeom prst="rect">
            <a:avLst/>
          </a:prstGeom>
          <a:noFill/>
          <a:ln/>
        </p:spPr>
        <p:txBody>
          <a:bodyPr wrap="square" rtlCol="0" anchor="ctr"/>
          <a:lstStyle/>
          <a:p>
            <a:pPr marL="0" indent="0">
              <a:buNone/>
            </a:pPr>
            <a:r>
              <a:rPr lang="en-US" sz="1250" b="1" dirty="0">
                <a:solidFill>
                  <a:srgbClr val="1E2761"/>
                </a:solidFill>
                <a:latin typeface="Consolas" pitchFamily="34" charset="0"/>
                <a:ea typeface="Consolas" pitchFamily="34" charset="-122"/>
                <a:cs typeface="Consolas" pitchFamily="34" charset="-120"/>
              </a:rPr>
              <a:t>O(2ⁿ)</a:t>
            </a:r>
            <a:endParaRPr lang="en-US" sz="1250" dirty="0"/>
          </a:p>
        </p:txBody>
      </p:sp>
      <p:sp>
        <p:nvSpPr>
          <p:cNvPr id="24" name="Text 21"/>
          <p:cNvSpPr/>
          <p:nvPr/>
        </p:nvSpPr>
        <p:spPr>
          <a:xfrm>
            <a:off x="9692640" y="5303520"/>
            <a:ext cx="1920240" cy="512064"/>
          </a:xfrm>
          <a:prstGeom prst="rect">
            <a:avLst/>
          </a:prstGeom>
          <a:noFill/>
          <a:ln/>
        </p:spPr>
        <p:txBody>
          <a:bodyPr wrap="square" rtlCol="0" anchor="ctr"/>
          <a:lstStyle/>
          <a:p>
            <a:pPr marL="0" indent="0" algn="r">
              <a:buNone/>
            </a:pPr>
            <a:r>
              <a:rPr lang="en-US" sz="1200" dirty="0">
                <a:solidFill>
                  <a:srgbClr val="1B2340"/>
                </a:solidFill>
                <a:latin typeface="Calibri" pitchFamily="34" charset="0"/>
                <a:ea typeface="Calibri" pitchFamily="34" charset="-122"/>
                <a:cs typeface="Calibri" pitchFamily="34" charset="-120"/>
              </a:rPr>
              <a:t>không khả thi</a:t>
            </a:r>
            <a:endParaRPr lang="en-US" sz="1200" dirty="0"/>
          </a:p>
        </p:txBody>
      </p:sp>
      <p:sp>
        <p:nvSpPr>
          <p:cNvPr id="25" name="Text 22"/>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9</a:t>
            </a:r>
            <a:endParaRPr lang="en-US" sz="1000" dirty="0"/>
          </a:p>
        </p:txBody>
      </p:sp>
      <p:sp>
        <p:nvSpPr>
          <p:cNvPr id="26" name="Text 23"/>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VÍ DỤ</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Phân tích độ phức tạp qua ví dụ code</a:t>
            </a:r>
            <a:endParaRPr lang="en-US" sz="3000" dirty="0"/>
          </a:p>
        </p:txBody>
      </p:sp>
      <p:sp>
        <p:nvSpPr>
          <p:cNvPr id="5" name="Shape 3"/>
          <p:cNvSpPr/>
          <p:nvPr/>
        </p:nvSpPr>
        <p:spPr>
          <a:xfrm>
            <a:off x="457200" y="1783080"/>
            <a:ext cx="5486400" cy="2011680"/>
          </a:xfrm>
          <a:prstGeom prst="roundRect">
            <a:avLst>
              <a:gd name="adj" fmla="val 4545"/>
            </a:avLst>
          </a:prstGeom>
          <a:solidFill>
            <a:srgbClr val="F4F6FC"/>
          </a:solidFill>
          <a:ln/>
        </p:spPr>
      </p:sp>
      <p:sp>
        <p:nvSpPr>
          <p:cNvPr id="6" name="Shape 4"/>
          <p:cNvSpPr/>
          <p:nvPr/>
        </p:nvSpPr>
        <p:spPr>
          <a:xfrm>
            <a:off x="685800" y="2011680"/>
            <a:ext cx="1234440" cy="502920"/>
          </a:xfrm>
          <a:prstGeom prst="roundRect">
            <a:avLst>
              <a:gd name="adj" fmla="val 49091"/>
            </a:avLst>
          </a:prstGeom>
          <a:solidFill>
            <a:srgbClr val="2E7D5B"/>
          </a:solidFill>
          <a:ln/>
        </p:spPr>
      </p:sp>
      <p:sp>
        <p:nvSpPr>
          <p:cNvPr id="7" name="Text 5"/>
          <p:cNvSpPr/>
          <p:nvPr/>
        </p:nvSpPr>
        <p:spPr>
          <a:xfrm>
            <a:off x="685800" y="2011680"/>
            <a:ext cx="1234440" cy="50292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O(1)</a:t>
            </a:r>
            <a:endParaRPr lang="en-US" sz="1300" dirty="0"/>
          </a:p>
        </p:txBody>
      </p:sp>
      <p:sp>
        <p:nvSpPr>
          <p:cNvPr id="8" name="Text 6"/>
          <p:cNvSpPr/>
          <p:nvPr/>
        </p:nvSpPr>
        <p:spPr>
          <a:xfrm>
            <a:off x="2057400" y="1984248"/>
            <a:ext cx="3657600" cy="5486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Truy cập trực tiếp</a:t>
            </a:r>
            <a:endParaRPr lang="en-US" sz="1450" dirty="0"/>
          </a:p>
        </p:txBody>
      </p:sp>
      <p:sp>
        <p:nvSpPr>
          <p:cNvPr id="9" name="Shape 7"/>
          <p:cNvSpPr/>
          <p:nvPr/>
        </p:nvSpPr>
        <p:spPr>
          <a:xfrm>
            <a:off x="685800" y="2651760"/>
            <a:ext cx="5029200" cy="685800"/>
          </a:xfrm>
          <a:prstGeom prst="roundRect">
            <a:avLst>
              <a:gd name="adj" fmla="val 8000"/>
            </a:avLst>
          </a:prstGeom>
          <a:solidFill>
            <a:srgbClr val="1E2761"/>
          </a:solidFill>
          <a:ln/>
        </p:spPr>
      </p:sp>
      <p:sp>
        <p:nvSpPr>
          <p:cNvPr id="10" name="Text 8"/>
          <p:cNvSpPr/>
          <p:nvPr/>
        </p:nvSpPr>
        <p:spPr>
          <a:xfrm>
            <a:off x="822960" y="2651760"/>
            <a:ext cx="4754880" cy="685800"/>
          </a:xfrm>
          <a:prstGeom prst="rect">
            <a:avLst/>
          </a:prstGeom>
          <a:noFill/>
          <a:ln/>
        </p:spPr>
        <p:txBody>
          <a:bodyPr wrap="square" rtlCol="0" anchor="ctr"/>
          <a:lstStyle/>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return arr[0]</a:t>
            </a:r>
            <a:endParaRPr lang="en-US" sz="1050" dirty="0"/>
          </a:p>
        </p:txBody>
      </p:sp>
      <p:sp>
        <p:nvSpPr>
          <p:cNvPr id="11" name="Text 9"/>
          <p:cNvSpPr/>
          <p:nvPr/>
        </p:nvSpPr>
        <p:spPr>
          <a:xfrm>
            <a:off x="685800" y="3410712"/>
            <a:ext cx="5029200" cy="320040"/>
          </a:xfrm>
          <a:prstGeom prst="rect">
            <a:avLst/>
          </a:prstGeom>
          <a:noFill/>
          <a:ln/>
        </p:spPr>
        <p:txBody>
          <a:bodyPr wrap="square" rtlCol="0" anchor="ctr"/>
          <a:lstStyle/>
          <a:p>
            <a:pPr marL="0" indent="0">
              <a:buNone/>
            </a:pPr>
            <a:r>
              <a:rPr lang="en-US" sz="1100" i="1" dirty="0">
                <a:solidFill>
                  <a:srgbClr val="5B6B8C"/>
                </a:solidFill>
                <a:latin typeface="Calibri" pitchFamily="34" charset="0"/>
                <a:ea typeface="Calibri" pitchFamily="34" charset="-122"/>
                <a:cs typeface="Calibri" pitchFamily="34" charset="-120"/>
              </a:rPr>
              <a:t>Luôn 1 phép toán, không phụ thuộc n.</a:t>
            </a:r>
            <a:endParaRPr lang="en-US" sz="1100" dirty="0"/>
          </a:p>
        </p:txBody>
      </p:sp>
      <p:sp>
        <p:nvSpPr>
          <p:cNvPr id="12" name="Shape 10"/>
          <p:cNvSpPr/>
          <p:nvPr/>
        </p:nvSpPr>
        <p:spPr>
          <a:xfrm>
            <a:off x="6245352" y="1783080"/>
            <a:ext cx="5486400" cy="2011680"/>
          </a:xfrm>
          <a:prstGeom prst="roundRect">
            <a:avLst>
              <a:gd name="adj" fmla="val 4545"/>
            </a:avLst>
          </a:prstGeom>
          <a:solidFill>
            <a:srgbClr val="F4F6FC"/>
          </a:solidFill>
          <a:ln/>
        </p:spPr>
      </p:sp>
      <p:sp>
        <p:nvSpPr>
          <p:cNvPr id="13" name="Shape 11"/>
          <p:cNvSpPr/>
          <p:nvPr/>
        </p:nvSpPr>
        <p:spPr>
          <a:xfrm>
            <a:off x="6473952" y="2011680"/>
            <a:ext cx="1234440" cy="502920"/>
          </a:xfrm>
          <a:prstGeom prst="roundRect">
            <a:avLst>
              <a:gd name="adj" fmla="val 49091"/>
            </a:avLst>
          </a:prstGeom>
          <a:solidFill>
            <a:srgbClr val="1E2761"/>
          </a:solidFill>
          <a:ln/>
        </p:spPr>
      </p:sp>
      <p:sp>
        <p:nvSpPr>
          <p:cNvPr id="14" name="Text 12"/>
          <p:cNvSpPr/>
          <p:nvPr/>
        </p:nvSpPr>
        <p:spPr>
          <a:xfrm>
            <a:off x="6473952" y="2011680"/>
            <a:ext cx="1234440" cy="50292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O(n)</a:t>
            </a:r>
            <a:endParaRPr lang="en-US" sz="1300" dirty="0"/>
          </a:p>
        </p:txBody>
      </p:sp>
      <p:sp>
        <p:nvSpPr>
          <p:cNvPr id="15" name="Text 13"/>
          <p:cNvSpPr/>
          <p:nvPr/>
        </p:nvSpPr>
        <p:spPr>
          <a:xfrm>
            <a:off x="7845552" y="1984248"/>
            <a:ext cx="3657600" cy="5486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Vòng lặp đơn</a:t>
            </a:r>
            <a:endParaRPr lang="en-US" sz="1450" dirty="0"/>
          </a:p>
        </p:txBody>
      </p:sp>
      <p:sp>
        <p:nvSpPr>
          <p:cNvPr id="16" name="Shape 14"/>
          <p:cNvSpPr/>
          <p:nvPr/>
        </p:nvSpPr>
        <p:spPr>
          <a:xfrm>
            <a:off x="6473952" y="2651760"/>
            <a:ext cx="5029200" cy="685800"/>
          </a:xfrm>
          <a:prstGeom prst="roundRect">
            <a:avLst>
              <a:gd name="adj" fmla="val 8000"/>
            </a:avLst>
          </a:prstGeom>
          <a:solidFill>
            <a:srgbClr val="1E2761"/>
          </a:solidFill>
          <a:ln/>
        </p:spPr>
      </p:sp>
      <p:sp>
        <p:nvSpPr>
          <p:cNvPr id="17" name="Text 15"/>
          <p:cNvSpPr/>
          <p:nvPr/>
        </p:nvSpPr>
        <p:spPr>
          <a:xfrm>
            <a:off x="6611112" y="2651760"/>
            <a:ext cx="4754880" cy="685800"/>
          </a:xfrm>
          <a:prstGeom prst="rect">
            <a:avLst/>
          </a:prstGeom>
          <a:noFill/>
          <a:ln/>
        </p:spPr>
        <p:txBody>
          <a:bodyPr wrap="square" rtlCol="0" anchor="ctr"/>
          <a:lstStyle/>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for x in arr:</a:t>
            </a:r>
            <a:endParaRPr lang="en-US" sz="1050" dirty="0"/>
          </a:p>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    if x &gt; max: max = x</a:t>
            </a:r>
            <a:endParaRPr lang="en-US" sz="1050" dirty="0"/>
          </a:p>
        </p:txBody>
      </p:sp>
      <p:sp>
        <p:nvSpPr>
          <p:cNvPr id="18" name="Text 16"/>
          <p:cNvSpPr/>
          <p:nvPr/>
        </p:nvSpPr>
        <p:spPr>
          <a:xfrm>
            <a:off x="6473952" y="3410712"/>
            <a:ext cx="5029200" cy="320040"/>
          </a:xfrm>
          <a:prstGeom prst="rect">
            <a:avLst/>
          </a:prstGeom>
          <a:noFill/>
          <a:ln/>
        </p:spPr>
        <p:txBody>
          <a:bodyPr wrap="square" rtlCol="0" anchor="ctr"/>
          <a:lstStyle/>
          <a:p>
            <a:pPr marL="0" indent="0">
              <a:buNone/>
            </a:pPr>
            <a:r>
              <a:rPr lang="en-US" sz="1100" i="1" dirty="0">
                <a:solidFill>
                  <a:srgbClr val="5B6B8C"/>
                </a:solidFill>
                <a:latin typeface="Calibri" pitchFamily="34" charset="0"/>
                <a:ea typeface="Calibri" pitchFamily="34" charset="-122"/>
                <a:cs typeface="Calibri" pitchFamily="34" charset="-120"/>
              </a:rPr>
              <a:t>Lặp qua n phần tử một lần.</a:t>
            </a:r>
            <a:endParaRPr lang="en-US" sz="1100" dirty="0"/>
          </a:p>
        </p:txBody>
      </p:sp>
      <p:sp>
        <p:nvSpPr>
          <p:cNvPr id="19" name="Shape 17"/>
          <p:cNvSpPr/>
          <p:nvPr/>
        </p:nvSpPr>
        <p:spPr>
          <a:xfrm>
            <a:off x="457200" y="4023360"/>
            <a:ext cx="5486400" cy="2011680"/>
          </a:xfrm>
          <a:prstGeom prst="roundRect">
            <a:avLst>
              <a:gd name="adj" fmla="val 4545"/>
            </a:avLst>
          </a:prstGeom>
          <a:solidFill>
            <a:srgbClr val="F4F6FC"/>
          </a:solidFill>
          <a:ln/>
        </p:spPr>
      </p:sp>
      <p:sp>
        <p:nvSpPr>
          <p:cNvPr id="20" name="Shape 18"/>
          <p:cNvSpPr/>
          <p:nvPr/>
        </p:nvSpPr>
        <p:spPr>
          <a:xfrm>
            <a:off x="685800" y="4251960"/>
            <a:ext cx="1234440" cy="502920"/>
          </a:xfrm>
          <a:prstGeom prst="roundRect">
            <a:avLst>
              <a:gd name="adj" fmla="val 49091"/>
            </a:avLst>
          </a:prstGeom>
          <a:solidFill>
            <a:srgbClr val="3A4A8C"/>
          </a:solidFill>
          <a:ln/>
        </p:spPr>
      </p:sp>
      <p:sp>
        <p:nvSpPr>
          <p:cNvPr id="21" name="Text 19"/>
          <p:cNvSpPr/>
          <p:nvPr/>
        </p:nvSpPr>
        <p:spPr>
          <a:xfrm>
            <a:off x="685800" y="4251960"/>
            <a:ext cx="1234440" cy="50292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O(log n)</a:t>
            </a:r>
            <a:endParaRPr lang="en-US" sz="1300" dirty="0"/>
          </a:p>
        </p:txBody>
      </p:sp>
      <p:sp>
        <p:nvSpPr>
          <p:cNvPr id="22" name="Text 20"/>
          <p:cNvSpPr/>
          <p:nvPr/>
        </p:nvSpPr>
        <p:spPr>
          <a:xfrm>
            <a:off x="2057400" y="4224528"/>
            <a:ext cx="3657600" cy="5486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Tìm kiếm nhị phân</a:t>
            </a:r>
            <a:endParaRPr lang="en-US" sz="1450" dirty="0"/>
          </a:p>
        </p:txBody>
      </p:sp>
      <p:sp>
        <p:nvSpPr>
          <p:cNvPr id="23" name="Shape 21"/>
          <p:cNvSpPr/>
          <p:nvPr/>
        </p:nvSpPr>
        <p:spPr>
          <a:xfrm>
            <a:off x="685800" y="4892040"/>
            <a:ext cx="5029200" cy="685800"/>
          </a:xfrm>
          <a:prstGeom prst="roundRect">
            <a:avLst>
              <a:gd name="adj" fmla="val 8000"/>
            </a:avLst>
          </a:prstGeom>
          <a:solidFill>
            <a:srgbClr val="1E2761"/>
          </a:solidFill>
          <a:ln/>
        </p:spPr>
      </p:sp>
      <p:sp>
        <p:nvSpPr>
          <p:cNvPr id="24" name="Text 22"/>
          <p:cNvSpPr/>
          <p:nvPr/>
        </p:nvSpPr>
        <p:spPr>
          <a:xfrm>
            <a:off x="822960" y="4892040"/>
            <a:ext cx="4754880" cy="685800"/>
          </a:xfrm>
          <a:prstGeom prst="rect">
            <a:avLst/>
          </a:prstGeom>
          <a:noFill/>
          <a:ln/>
        </p:spPr>
        <p:txBody>
          <a:bodyPr wrap="square" rtlCol="0" anchor="ctr"/>
          <a:lstStyle/>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mid = (l+r)//2</a:t>
            </a:r>
            <a:endParaRPr lang="en-US" sz="1050" dirty="0"/>
          </a:p>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 thu hẹp còn 1 nửa</a:t>
            </a:r>
            <a:endParaRPr lang="en-US" sz="1050" dirty="0"/>
          </a:p>
        </p:txBody>
      </p:sp>
      <p:sp>
        <p:nvSpPr>
          <p:cNvPr id="25" name="Text 23"/>
          <p:cNvSpPr/>
          <p:nvPr/>
        </p:nvSpPr>
        <p:spPr>
          <a:xfrm>
            <a:off x="685800" y="5650992"/>
            <a:ext cx="5029200" cy="320040"/>
          </a:xfrm>
          <a:prstGeom prst="rect">
            <a:avLst/>
          </a:prstGeom>
          <a:noFill/>
          <a:ln/>
        </p:spPr>
        <p:txBody>
          <a:bodyPr wrap="square" rtlCol="0" anchor="ctr"/>
          <a:lstStyle/>
          <a:p>
            <a:pPr marL="0" indent="0">
              <a:buNone/>
            </a:pPr>
            <a:r>
              <a:rPr lang="en-US" sz="1100" i="1" dirty="0">
                <a:solidFill>
                  <a:srgbClr val="5B6B8C"/>
                </a:solidFill>
                <a:latin typeface="Calibri" pitchFamily="34" charset="0"/>
                <a:ea typeface="Calibri" pitchFamily="34" charset="-122"/>
                <a:cs typeface="Calibri" pitchFamily="34" charset="-120"/>
              </a:rPr>
              <a:t>Phạm vi giảm một nửa mỗi bước.</a:t>
            </a:r>
            <a:endParaRPr lang="en-US" sz="1100" dirty="0"/>
          </a:p>
        </p:txBody>
      </p:sp>
      <p:sp>
        <p:nvSpPr>
          <p:cNvPr id="26" name="Shape 24"/>
          <p:cNvSpPr/>
          <p:nvPr/>
        </p:nvSpPr>
        <p:spPr>
          <a:xfrm>
            <a:off x="6245352" y="4023360"/>
            <a:ext cx="5486400" cy="2011680"/>
          </a:xfrm>
          <a:prstGeom prst="roundRect">
            <a:avLst>
              <a:gd name="adj" fmla="val 4545"/>
            </a:avLst>
          </a:prstGeom>
          <a:solidFill>
            <a:srgbClr val="F4F6FC"/>
          </a:solidFill>
          <a:ln/>
        </p:spPr>
      </p:sp>
      <p:sp>
        <p:nvSpPr>
          <p:cNvPr id="27" name="Shape 25"/>
          <p:cNvSpPr/>
          <p:nvPr/>
        </p:nvSpPr>
        <p:spPr>
          <a:xfrm>
            <a:off x="6473952" y="4251960"/>
            <a:ext cx="1234440" cy="502920"/>
          </a:xfrm>
          <a:prstGeom prst="roundRect">
            <a:avLst>
              <a:gd name="adj" fmla="val 49091"/>
            </a:avLst>
          </a:prstGeom>
          <a:solidFill>
            <a:srgbClr val="B23A48"/>
          </a:solidFill>
          <a:ln/>
        </p:spPr>
      </p:sp>
      <p:sp>
        <p:nvSpPr>
          <p:cNvPr id="28" name="Text 26"/>
          <p:cNvSpPr/>
          <p:nvPr/>
        </p:nvSpPr>
        <p:spPr>
          <a:xfrm>
            <a:off x="6473952" y="4251960"/>
            <a:ext cx="1234440" cy="502920"/>
          </a:xfrm>
          <a:prstGeom prst="rect">
            <a:avLst/>
          </a:prstGeom>
          <a:noFill/>
          <a:ln/>
        </p:spPr>
        <p:txBody>
          <a:bodyPr wrap="square"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O(n²)</a:t>
            </a:r>
            <a:endParaRPr lang="en-US" sz="1300" dirty="0"/>
          </a:p>
        </p:txBody>
      </p:sp>
      <p:sp>
        <p:nvSpPr>
          <p:cNvPr id="29" name="Text 27"/>
          <p:cNvSpPr/>
          <p:nvPr/>
        </p:nvSpPr>
        <p:spPr>
          <a:xfrm>
            <a:off x="7845552" y="4224528"/>
            <a:ext cx="3657600" cy="5486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Vòng lặp lồng nhau</a:t>
            </a:r>
            <a:endParaRPr lang="en-US" sz="1450" dirty="0"/>
          </a:p>
        </p:txBody>
      </p:sp>
      <p:sp>
        <p:nvSpPr>
          <p:cNvPr id="30" name="Shape 28"/>
          <p:cNvSpPr/>
          <p:nvPr/>
        </p:nvSpPr>
        <p:spPr>
          <a:xfrm>
            <a:off x="6473952" y="4892040"/>
            <a:ext cx="5029200" cy="685800"/>
          </a:xfrm>
          <a:prstGeom prst="roundRect">
            <a:avLst>
              <a:gd name="adj" fmla="val 8000"/>
            </a:avLst>
          </a:prstGeom>
          <a:solidFill>
            <a:srgbClr val="1E2761"/>
          </a:solidFill>
          <a:ln/>
        </p:spPr>
      </p:sp>
      <p:sp>
        <p:nvSpPr>
          <p:cNvPr id="31" name="Text 29"/>
          <p:cNvSpPr/>
          <p:nvPr/>
        </p:nvSpPr>
        <p:spPr>
          <a:xfrm>
            <a:off x="6611112" y="4892040"/>
            <a:ext cx="4754880" cy="685800"/>
          </a:xfrm>
          <a:prstGeom prst="rect">
            <a:avLst/>
          </a:prstGeom>
          <a:noFill/>
          <a:ln/>
        </p:spPr>
        <p:txBody>
          <a:bodyPr wrap="square" rtlCol="0" anchor="ctr"/>
          <a:lstStyle/>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for i in range(n):</a:t>
            </a:r>
            <a:endParaRPr lang="en-US" sz="1050" dirty="0"/>
          </a:p>
          <a:p>
            <a:pPr marL="0" indent="0">
              <a:lnSpc>
                <a:spcPct val="115000"/>
              </a:lnSpc>
              <a:buNone/>
            </a:pPr>
            <a:r>
              <a:rPr lang="en-US" sz="1050" dirty="0">
                <a:solidFill>
                  <a:srgbClr val="FFFFFF"/>
                </a:solidFill>
                <a:latin typeface="Consolas" pitchFamily="34" charset="0"/>
                <a:ea typeface="Consolas" pitchFamily="34" charset="-122"/>
                <a:cs typeface="Consolas" pitchFamily="34" charset="-120"/>
              </a:rPr>
              <a:t>  for j in range(i+1,n):</a:t>
            </a:r>
            <a:endParaRPr lang="en-US" sz="1050" dirty="0"/>
          </a:p>
        </p:txBody>
      </p:sp>
      <p:sp>
        <p:nvSpPr>
          <p:cNvPr id="32" name="Text 30"/>
          <p:cNvSpPr/>
          <p:nvPr/>
        </p:nvSpPr>
        <p:spPr>
          <a:xfrm>
            <a:off x="6473952" y="5650992"/>
            <a:ext cx="5029200" cy="320040"/>
          </a:xfrm>
          <a:prstGeom prst="rect">
            <a:avLst/>
          </a:prstGeom>
          <a:noFill/>
          <a:ln/>
        </p:spPr>
        <p:txBody>
          <a:bodyPr wrap="square" rtlCol="0" anchor="ctr"/>
          <a:lstStyle/>
          <a:p>
            <a:pPr marL="0" indent="0">
              <a:buNone/>
            </a:pPr>
            <a:r>
              <a:rPr lang="en-US" sz="1100" i="1" dirty="0">
                <a:solidFill>
                  <a:srgbClr val="5B6B8C"/>
                </a:solidFill>
                <a:latin typeface="Calibri" pitchFamily="34" charset="0"/>
                <a:ea typeface="Calibri" pitchFamily="34" charset="-122"/>
                <a:cs typeface="Calibri" pitchFamily="34" charset="-120"/>
              </a:rPr>
              <a:t>So sánh mọi cặp phần tử.</a:t>
            </a:r>
            <a:endParaRPr lang="en-US" sz="1100" dirty="0"/>
          </a:p>
        </p:txBody>
      </p:sp>
      <p:sp>
        <p:nvSpPr>
          <p:cNvPr id="33" name="Text 31"/>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10</a:t>
            </a:r>
            <a:endParaRPr lang="en-US" sz="1000" dirty="0"/>
          </a:p>
        </p:txBody>
      </p:sp>
      <p:sp>
        <p:nvSpPr>
          <p:cNvPr id="34" name="Text 32"/>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PHƯƠNG PHÁP</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Quy trình phân tích một đoạn code</a:t>
            </a:r>
            <a:endParaRPr lang="en-US" sz="3000" dirty="0"/>
          </a:p>
        </p:txBody>
      </p:sp>
      <p:sp>
        <p:nvSpPr>
          <p:cNvPr id="5" name="Shape 3"/>
          <p:cNvSpPr/>
          <p:nvPr/>
        </p:nvSpPr>
        <p:spPr>
          <a:xfrm>
            <a:off x="457200" y="2468880"/>
            <a:ext cx="1874520" cy="2011680"/>
          </a:xfrm>
          <a:prstGeom prst="roundRect">
            <a:avLst>
              <a:gd name="adj" fmla="val 4878"/>
            </a:avLst>
          </a:prstGeom>
          <a:solidFill>
            <a:srgbClr val="1E2761"/>
          </a:solidFill>
          <a:ln/>
        </p:spPr>
      </p:sp>
      <p:sp>
        <p:nvSpPr>
          <p:cNvPr id="6" name="Text 4"/>
          <p:cNvSpPr/>
          <p:nvPr/>
        </p:nvSpPr>
        <p:spPr>
          <a:xfrm>
            <a:off x="594360" y="2578608"/>
            <a:ext cx="548640" cy="457200"/>
          </a:xfrm>
          <a:prstGeom prst="rect">
            <a:avLst/>
          </a:prstGeom>
          <a:noFill/>
          <a:ln/>
        </p:spPr>
        <p:txBody>
          <a:bodyPr wrap="square" rtlCol="0" anchor="ctr"/>
          <a:lstStyle/>
          <a:p>
            <a:pPr marL="0" indent="0">
              <a:buNone/>
            </a:pPr>
            <a:r>
              <a:rPr lang="en-US" sz="2000" b="1" dirty="0">
                <a:solidFill>
                  <a:srgbClr val="F2B134"/>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594360" y="3063240"/>
            <a:ext cx="1600200" cy="64008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Xác định biến n</a:t>
            </a:r>
            <a:endParaRPr lang="en-US" sz="1250" dirty="0"/>
          </a:p>
        </p:txBody>
      </p:sp>
      <p:sp>
        <p:nvSpPr>
          <p:cNvPr id="8" name="Text 6"/>
          <p:cNvSpPr/>
          <p:nvPr/>
        </p:nvSpPr>
        <p:spPr>
          <a:xfrm>
            <a:off x="594360" y="3749040"/>
            <a:ext cx="1600200" cy="640080"/>
          </a:xfrm>
          <a:prstGeom prst="rect">
            <a:avLst/>
          </a:prstGeom>
          <a:noFill/>
          <a:ln/>
        </p:spPr>
        <p:txBody>
          <a:bodyPr wrap="square"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Kích thước mảng, số phần tử, độ dài chuỗi...</a:t>
            </a:r>
            <a:endParaRPr lang="en-US" sz="950" dirty="0"/>
          </a:p>
        </p:txBody>
      </p:sp>
      <p:sp>
        <p:nvSpPr>
          <p:cNvPr id="9" name="Shape 7"/>
          <p:cNvSpPr/>
          <p:nvPr/>
        </p:nvSpPr>
        <p:spPr>
          <a:xfrm>
            <a:off x="2331720" y="3337560"/>
            <a:ext cx="475488" cy="274320"/>
          </a:xfrm>
          <a:prstGeom prst="rightArrow">
            <a:avLst/>
          </a:prstGeom>
          <a:solidFill>
            <a:srgbClr val="C7CFE8"/>
          </a:solidFill>
          <a:ln/>
        </p:spPr>
      </p:sp>
      <p:sp>
        <p:nvSpPr>
          <p:cNvPr id="10" name="Shape 8"/>
          <p:cNvSpPr/>
          <p:nvPr/>
        </p:nvSpPr>
        <p:spPr>
          <a:xfrm>
            <a:off x="2807208" y="2468880"/>
            <a:ext cx="1874520" cy="2011680"/>
          </a:xfrm>
          <a:prstGeom prst="roundRect">
            <a:avLst>
              <a:gd name="adj" fmla="val 4878"/>
            </a:avLst>
          </a:prstGeom>
          <a:solidFill>
            <a:srgbClr val="1E2761"/>
          </a:solidFill>
          <a:ln/>
        </p:spPr>
      </p:sp>
      <p:sp>
        <p:nvSpPr>
          <p:cNvPr id="11" name="Text 9"/>
          <p:cNvSpPr/>
          <p:nvPr/>
        </p:nvSpPr>
        <p:spPr>
          <a:xfrm>
            <a:off x="2944368" y="2578608"/>
            <a:ext cx="548640" cy="457200"/>
          </a:xfrm>
          <a:prstGeom prst="rect">
            <a:avLst/>
          </a:prstGeom>
          <a:noFill/>
          <a:ln/>
        </p:spPr>
        <p:txBody>
          <a:bodyPr wrap="square" rtlCol="0" anchor="ctr"/>
          <a:lstStyle/>
          <a:p>
            <a:pPr marL="0" indent="0">
              <a:buNone/>
            </a:pPr>
            <a:r>
              <a:rPr lang="en-US" sz="2000" b="1" dirty="0">
                <a:solidFill>
                  <a:srgbClr val="F2B134"/>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2944368" y="3063240"/>
            <a:ext cx="1600200" cy="64008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Đếm vòng lặp</a:t>
            </a:r>
            <a:endParaRPr lang="en-US" sz="1250" dirty="0"/>
          </a:p>
        </p:txBody>
      </p:sp>
      <p:sp>
        <p:nvSpPr>
          <p:cNvPr id="13" name="Text 11"/>
          <p:cNvSpPr/>
          <p:nvPr/>
        </p:nvSpPr>
        <p:spPr>
          <a:xfrm>
            <a:off x="2944368" y="3749040"/>
            <a:ext cx="1600200" cy="640080"/>
          </a:xfrm>
          <a:prstGeom prst="rect">
            <a:avLst/>
          </a:prstGeom>
          <a:noFill/>
          <a:ln/>
        </p:spPr>
        <p:txBody>
          <a:bodyPr wrap="square"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Tuần tự hay lồng nhau?</a:t>
            </a:r>
            <a:endParaRPr lang="en-US" sz="950" dirty="0"/>
          </a:p>
        </p:txBody>
      </p:sp>
      <p:sp>
        <p:nvSpPr>
          <p:cNvPr id="14" name="Shape 12"/>
          <p:cNvSpPr/>
          <p:nvPr/>
        </p:nvSpPr>
        <p:spPr>
          <a:xfrm>
            <a:off x="4681728" y="3337560"/>
            <a:ext cx="475488" cy="274320"/>
          </a:xfrm>
          <a:prstGeom prst="rightArrow">
            <a:avLst/>
          </a:prstGeom>
          <a:solidFill>
            <a:srgbClr val="C7CFE8"/>
          </a:solidFill>
          <a:ln/>
        </p:spPr>
      </p:sp>
      <p:sp>
        <p:nvSpPr>
          <p:cNvPr id="15" name="Shape 13"/>
          <p:cNvSpPr/>
          <p:nvPr/>
        </p:nvSpPr>
        <p:spPr>
          <a:xfrm>
            <a:off x="5157216" y="2468880"/>
            <a:ext cx="1874520" cy="2011680"/>
          </a:xfrm>
          <a:prstGeom prst="roundRect">
            <a:avLst>
              <a:gd name="adj" fmla="val 4878"/>
            </a:avLst>
          </a:prstGeom>
          <a:solidFill>
            <a:srgbClr val="1E2761"/>
          </a:solidFill>
          <a:ln/>
        </p:spPr>
      </p:sp>
      <p:sp>
        <p:nvSpPr>
          <p:cNvPr id="16" name="Text 14"/>
          <p:cNvSpPr/>
          <p:nvPr/>
        </p:nvSpPr>
        <p:spPr>
          <a:xfrm>
            <a:off x="5294376" y="2578608"/>
            <a:ext cx="548640" cy="457200"/>
          </a:xfrm>
          <a:prstGeom prst="rect">
            <a:avLst/>
          </a:prstGeom>
          <a:noFill/>
          <a:ln/>
        </p:spPr>
        <p:txBody>
          <a:bodyPr wrap="square" rtlCol="0" anchor="ctr"/>
          <a:lstStyle/>
          <a:p>
            <a:pPr marL="0" indent="0">
              <a:buNone/>
            </a:pPr>
            <a:r>
              <a:rPr lang="en-US" sz="2000" b="1" dirty="0">
                <a:solidFill>
                  <a:srgbClr val="F2B134"/>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5294376" y="3063240"/>
            <a:ext cx="1600200" cy="64008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Xét đệ quy (nếu có)</a:t>
            </a:r>
            <a:endParaRPr lang="en-US" sz="1250" dirty="0"/>
          </a:p>
        </p:txBody>
      </p:sp>
      <p:sp>
        <p:nvSpPr>
          <p:cNvPr id="18" name="Text 16"/>
          <p:cNvSpPr/>
          <p:nvPr/>
        </p:nvSpPr>
        <p:spPr>
          <a:xfrm>
            <a:off x="5294376" y="3749040"/>
            <a:ext cx="1600200" cy="640080"/>
          </a:xfrm>
          <a:prstGeom prst="rect">
            <a:avLst/>
          </a:prstGeom>
          <a:noFill/>
          <a:ln/>
        </p:spPr>
        <p:txBody>
          <a:bodyPr wrap="square"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Số lời gọi con, cách bài toán thu nhỏ dần</a:t>
            </a:r>
            <a:endParaRPr lang="en-US" sz="950" dirty="0"/>
          </a:p>
        </p:txBody>
      </p:sp>
      <p:sp>
        <p:nvSpPr>
          <p:cNvPr id="19" name="Shape 17"/>
          <p:cNvSpPr/>
          <p:nvPr/>
        </p:nvSpPr>
        <p:spPr>
          <a:xfrm>
            <a:off x="7031736" y="3337560"/>
            <a:ext cx="475488" cy="274320"/>
          </a:xfrm>
          <a:prstGeom prst="rightArrow">
            <a:avLst/>
          </a:prstGeom>
          <a:solidFill>
            <a:srgbClr val="C7CFE8"/>
          </a:solidFill>
          <a:ln/>
        </p:spPr>
      </p:sp>
      <p:sp>
        <p:nvSpPr>
          <p:cNvPr id="20" name="Shape 18"/>
          <p:cNvSpPr/>
          <p:nvPr/>
        </p:nvSpPr>
        <p:spPr>
          <a:xfrm>
            <a:off x="7507224" y="2468880"/>
            <a:ext cx="1874520" cy="2011680"/>
          </a:xfrm>
          <a:prstGeom prst="roundRect">
            <a:avLst>
              <a:gd name="adj" fmla="val 4878"/>
            </a:avLst>
          </a:prstGeom>
          <a:solidFill>
            <a:srgbClr val="1E2761"/>
          </a:solidFill>
          <a:ln/>
        </p:spPr>
      </p:sp>
      <p:sp>
        <p:nvSpPr>
          <p:cNvPr id="21" name="Text 19"/>
          <p:cNvSpPr/>
          <p:nvPr/>
        </p:nvSpPr>
        <p:spPr>
          <a:xfrm>
            <a:off x="7644384" y="2578608"/>
            <a:ext cx="548640" cy="457200"/>
          </a:xfrm>
          <a:prstGeom prst="rect">
            <a:avLst/>
          </a:prstGeom>
          <a:noFill/>
          <a:ln/>
        </p:spPr>
        <p:txBody>
          <a:bodyPr wrap="square" rtlCol="0" anchor="ctr"/>
          <a:lstStyle/>
          <a:p>
            <a:pPr marL="0" indent="0">
              <a:buNone/>
            </a:pPr>
            <a:r>
              <a:rPr lang="en-US" sz="2000" b="1" dirty="0">
                <a:solidFill>
                  <a:srgbClr val="F2B134"/>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7644384" y="3063240"/>
            <a:ext cx="1600200" cy="640080"/>
          </a:xfrm>
          <a:prstGeom prst="rect">
            <a:avLst/>
          </a:prstGeom>
          <a:noFill/>
          <a:ln/>
        </p:spPr>
        <p:txBody>
          <a:bodyPr wrap="square" rtlCol="0" anchor="ctr"/>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Rút gọn biểu thức</a:t>
            </a:r>
            <a:endParaRPr lang="en-US" sz="1250" dirty="0"/>
          </a:p>
        </p:txBody>
      </p:sp>
      <p:sp>
        <p:nvSpPr>
          <p:cNvPr id="23" name="Text 21"/>
          <p:cNvSpPr/>
          <p:nvPr/>
        </p:nvSpPr>
        <p:spPr>
          <a:xfrm>
            <a:off x="7644384" y="3749040"/>
            <a:ext cx="1600200" cy="640080"/>
          </a:xfrm>
          <a:prstGeom prst="rect">
            <a:avLst/>
          </a:prstGeom>
          <a:noFill/>
          <a:ln/>
        </p:spPr>
        <p:txBody>
          <a:bodyPr wrap="square" rtlCol="0" anchor="ctr"/>
          <a:lstStyle/>
          <a:p>
            <a:pPr marL="0" indent="0">
              <a:lnSpc>
                <a:spcPct val="115000"/>
              </a:lnSpc>
              <a:buNone/>
            </a:pPr>
            <a:r>
              <a:rPr lang="en-US" sz="950" dirty="0">
                <a:solidFill>
                  <a:srgbClr val="CADCFC"/>
                </a:solidFill>
                <a:latin typeface="Calibri" pitchFamily="34" charset="0"/>
                <a:ea typeface="Calibri" pitchFamily="34" charset="-122"/>
                <a:cs typeface="Calibri" pitchFamily="34" charset="-120"/>
              </a:rPr>
              <a:t>Bỏ hằng số, chỉ giữ số hạng tăng nhanh nhất</a:t>
            </a:r>
            <a:endParaRPr lang="en-US" sz="950" dirty="0"/>
          </a:p>
        </p:txBody>
      </p:sp>
      <p:sp>
        <p:nvSpPr>
          <p:cNvPr id="24" name="Shape 22"/>
          <p:cNvSpPr/>
          <p:nvPr/>
        </p:nvSpPr>
        <p:spPr>
          <a:xfrm>
            <a:off x="9381744" y="3337560"/>
            <a:ext cx="475488" cy="274320"/>
          </a:xfrm>
          <a:prstGeom prst="rightArrow">
            <a:avLst/>
          </a:prstGeom>
          <a:solidFill>
            <a:srgbClr val="C7CFE8"/>
          </a:solidFill>
          <a:ln/>
        </p:spPr>
      </p:sp>
      <p:sp>
        <p:nvSpPr>
          <p:cNvPr id="25" name="Shape 23"/>
          <p:cNvSpPr/>
          <p:nvPr/>
        </p:nvSpPr>
        <p:spPr>
          <a:xfrm>
            <a:off x="9857232" y="2468880"/>
            <a:ext cx="1874520" cy="2011680"/>
          </a:xfrm>
          <a:prstGeom prst="roundRect">
            <a:avLst>
              <a:gd name="adj" fmla="val 4878"/>
            </a:avLst>
          </a:prstGeom>
          <a:solidFill>
            <a:srgbClr val="F2B134"/>
          </a:solidFill>
          <a:ln/>
        </p:spPr>
      </p:sp>
      <p:sp>
        <p:nvSpPr>
          <p:cNvPr id="26" name="Text 24"/>
          <p:cNvSpPr/>
          <p:nvPr/>
        </p:nvSpPr>
        <p:spPr>
          <a:xfrm>
            <a:off x="9994392" y="2578608"/>
            <a:ext cx="54864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9994392" y="3063240"/>
            <a:ext cx="1600200" cy="640080"/>
          </a:xfrm>
          <a:prstGeom prst="rect">
            <a:avLst/>
          </a:prstGeom>
          <a:noFill/>
          <a:ln/>
        </p:spPr>
        <p:txBody>
          <a:bodyPr wrap="square" rtlCol="0" anchor="ctr"/>
          <a:lstStyle/>
          <a:p>
            <a:pPr marL="0" indent="0">
              <a:lnSpc>
                <a:spcPct val="110000"/>
              </a:lnSpc>
              <a:buNone/>
            </a:pPr>
            <a:r>
              <a:rPr lang="en-US" sz="1250" b="1" dirty="0">
                <a:solidFill>
                  <a:srgbClr val="1E2761"/>
                </a:solidFill>
                <a:latin typeface="Calibri" pitchFamily="34" charset="0"/>
                <a:ea typeface="Calibri" pitchFamily="34" charset="-122"/>
                <a:cs typeface="Calibri" pitchFamily="34" charset="-120"/>
              </a:rPr>
              <a:t>Kết luận Big O</a:t>
            </a:r>
            <a:endParaRPr lang="en-US" sz="1250" dirty="0"/>
          </a:p>
        </p:txBody>
      </p:sp>
      <p:sp>
        <p:nvSpPr>
          <p:cNvPr id="28" name="Text 26"/>
          <p:cNvSpPr/>
          <p:nvPr/>
        </p:nvSpPr>
        <p:spPr>
          <a:xfrm>
            <a:off x="9994392" y="3749040"/>
            <a:ext cx="1600200" cy="640080"/>
          </a:xfrm>
          <a:prstGeom prst="rect">
            <a:avLst/>
          </a:prstGeom>
          <a:noFill/>
          <a:ln/>
        </p:spPr>
        <p:txBody>
          <a:bodyPr wrap="square" rtlCol="0" anchor="ctr"/>
          <a:lstStyle/>
          <a:p>
            <a:pPr marL="0" indent="0">
              <a:lnSpc>
                <a:spcPct val="115000"/>
              </a:lnSpc>
              <a:buNone/>
            </a:pPr>
            <a:r>
              <a:rPr lang="en-US" sz="950" dirty="0">
                <a:solidFill>
                  <a:srgbClr val="3A2F00"/>
                </a:solidFill>
                <a:latin typeface="Calibri" pitchFamily="34" charset="0"/>
                <a:ea typeface="Calibri" pitchFamily="34" charset="-122"/>
                <a:cs typeface="Calibri" pitchFamily="34" charset="-120"/>
              </a:rPr>
              <a:t>Thường theo worst case, trừ khi nêu rõ</a:t>
            </a:r>
            <a:endParaRPr lang="en-US" sz="950" dirty="0"/>
          </a:p>
        </p:txBody>
      </p:sp>
      <p:sp>
        <p:nvSpPr>
          <p:cNvPr id="29" name="Text 27"/>
          <p:cNvSpPr/>
          <p:nvPr/>
        </p:nvSpPr>
        <p:spPr>
          <a:xfrm>
            <a:off x="457200" y="4892040"/>
            <a:ext cx="11274552" cy="548640"/>
          </a:xfrm>
          <a:prstGeom prst="rect">
            <a:avLst/>
          </a:prstGeom>
          <a:noFill/>
          <a:ln/>
        </p:spPr>
        <p:txBody>
          <a:bodyPr wrap="square" rtlCol="0" anchor="ctr"/>
          <a:lstStyle/>
          <a:p>
            <a:pPr marL="0" indent="0">
              <a:lnSpc>
                <a:spcPct val="120000"/>
              </a:lnSpc>
              <a:buNone/>
            </a:pPr>
            <a:r>
              <a:rPr lang="en-US" sz="1200" i="1" dirty="0">
                <a:solidFill>
                  <a:srgbClr val="5B6B8C"/>
                </a:solidFill>
                <a:latin typeface="Calibri" pitchFamily="34" charset="0"/>
                <a:ea typeface="Calibri" pitchFamily="34" charset="-122"/>
                <a:cs typeface="Calibri" pitchFamily="34" charset="-120"/>
              </a:rPr>
              <a:t>Đệ quy nâng cao: T(n) = 2T(n/2) + O(n) → O(n log n) theo Master Theorem (tìm hiểu sau khi vững cơ bản).</a:t>
            </a:r>
            <a:endParaRPr lang="en-US" sz="1200" dirty="0"/>
          </a:p>
        </p:txBody>
      </p:sp>
      <p:sp>
        <p:nvSpPr>
          <p:cNvPr id="30" name="Text 28"/>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11</a:t>
            </a:r>
            <a:endParaRPr lang="en-US" sz="1000" dirty="0"/>
          </a:p>
        </p:txBody>
      </p:sp>
      <p:sp>
        <p:nvSpPr>
          <p:cNvPr id="31" name="Text 29"/>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LƯU Ý</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Những lưu ý quan trọng cho người mới</a:t>
            </a:r>
            <a:endParaRPr lang="en-US" sz="3000" dirty="0"/>
          </a:p>
        </p:txBody>
      </p:sp>
      <p:sp>
        <p:nvSpPr>
          <p:cNvPr id="5" name="Shape 3"/>
          <p:cNvSpPr/>
          <p:nvPr/>
        </p:nvSpPr>
        <p:spPr>
          <a:xfrm>
            <a:off x="457200" y="1783080"/>
            <a:ext cx="5532120" cy="4297680"/>
          </a:xfrm>
          <a:prstGeom prst="roundRect">
            <a:avLst>
              <a:gd name="adj" fmla="val 2553"/>
            </a:avLst>
          </a:prstGeom>
          <a:solidFill>
            <a:srgbClr val="EAF5EF"/>
          </a:solidFill>
          <a:ln/>
        </p:spPr>
      </p:sp>
      <p:sp>
        <p:nvSpPr>
          <p:cNvPr id="6" name="Text 4"/>
          <p:cNvSpPr/>
          <p:nvPr/>
        </p:nvSpPr>
        <p:spPr>
          <a:xfrm>
            <a:off x="777240" y="2011680"/>
            <a:ext cx="4937760" cy="365760"/>
          </a:xfrm>
          <a:prstGeom prst="rect">
            <a:avLst/>
          </a:prstGeom>
          <a:noFill/>
          <a:ln/>
        </p:spPr>
        <p:txBody>
          <a:bodyPr wrap="square" rtlCol="0" anchor="ctr"/>
          <a:lstStyle/>
          <a:p>
            <a:pPr marL="0" indent="0">
              <a:buNone/>
            </a:pPr>
            <a:r>
              <a:rPr lang="en-US" sz="1500" b="1" dirty="0">
                <a:solidFill>
                  <a:srgbClr val="2E7D5B"/>
                </a:solidFill>
                <a:latin typeface="Calibri" pitchFamily="34" charset="0"/>
                <a:ea typeface="Calibri" pitchFamily="34" charset="-122"/>
                <a:cs typeface="Calibri" pitchFamily="34" charset="-120"/>
              </a:rPr>
              <a:t>NÊN NHỚ</a:t>
            </a:r>
            <a:endParaRPr lang="en-US" sz="1500" dirty="0"/>
          </a:p>
        </p:txBody>
      </p:sp>
      <p:sp>
        <p:nvSpPr>
          <p:cNvPr id="7" name="Shape 5"/>
          <p:cNvSpPr/>
          <p:nvPr/>
        </p:nvSpPr>
        <p:spPr>
          <a:xfrm>
            <a:off x="777240" y="2606040"/>
            <a:ext cx="274320" cy="274320"/>
          </a:xfrm>
          <a:prstGeom prst="ellipse">
            <a:avLst/>
          </a:prstGeom>
          <a:solidFill>
            <a:srgbClr val="2E7D5B"/>
          </a:solidFill>
          <a:ln/>
        </p:spPr>
      </p:sp>
      <p:sp>
        <p:nvSpPr>
          <p:cNvPr id="8" name="Text 6"/>
          <p:cNvSpPr/>
          <p:nvPr/>
        </p:nvSpPr>
        <p:spPr>
          <a:xfrm>
            <a:off x="777240" y="260604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1188720" y="2560320"/>
            <a:ext cx="4617720" cy="1005840"/>
          </a:xfrm>
          <a:prstGeom prst="rect">
            <a:avLst/>
          </a:prstGeom>
          <a:noFill/>
          <a:ln/>
        </p:spPr>
        <p:txBody>
          <a:bodyPr wrap="square" rtlCol="0" anchor="ctr"/>
          <a:lstStyle/>
          <a:p>
            <a:pPr marL="0" indent="0">
              <a:lnSpc>
                <a:spcPct val="120000"/>
              </a:lnSpc>
              <a:buNone/>
            </a:pPr>
            <a:r>
              <a:rPr lang="en-US" sz="1200" dirty="0">
                <a:solidFill>
                  <a:srgbClr val="1B2340"/>
                </a:solidFill>
                <a:latin typeface="Calibri" pitchFamily="34" charset="0"/>
                <a:ea typeface="Calibri" pitchFamily="34" charset="-122"/>
                <a:cs typeface="Calibri" pitchFamily="34" charset="-120"/>
              </a:rPr>
              <a:t>Big O đo tốc độ tăng trưởng, không phải thời gian chạy thực tế (giây)</a:t>
            </a:r>
            <a:endParaRPr lang="en-US" sz="1200" dirty="0"/>
          </a:p>
        </p:txBody>
      </p:sp>
      <p:sp>
        <p:nvSpPr>
          <p:cNvPr id="10" name="Shape 8"/>
          <p:cNvSpPr/>
          <p:nvPr/>
        </p:nvSpPr>
        <p:spPr>
          <a:xfrm>
            <a:off x="777240" y="3703320"/>
            <a:ext cx="274320" cy="274320"/>
          </a:xfrm>
          <a:prstGeom prst="ellipse">
            <a:avLst/>
          </a:prstGeom>
          <a:solidFill>
            <a:srgbClr val="2E7D5B"/>
          </a:solidFill>
          <a:ln/>
        </p:spPr>
      </p:sp>
      <p:sp>
        <p:nvSpPr>
          <p:cNvPr id="11" name="Text 9"/>
          <p:cNvSpPr/>
          <p:nvPr/>
        </p:nvSpPr>
        <p:spPr>
          <a:xfrm>
            <a:off x="777240" y="370332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1188720" y="3657600"/>
            <a:ext cx="4617720" cy="1005840"/>
          </a:xfrm>
          <a:prstGeom prst="rect">
            <a:avLst/>
          </a:prstGeom>
          <a:noFill/>
          <a:ln/>
        </p:spPr>
        <p:txBody>
          <a:bodyPr wrap="square" rtlCol="0" anchor="ctr"/>
          <a:lstStyle/>
          <a:p>
            <a:pPr marL="0" indent="0">
              <a:lnSpc>
                <a:spcPct val="120000"/>
              </a:lnSpc>
              <a:buNone/>
            </a:pPr>
            <a:r>
              <a:rPr lang="en-US" sz="1200" dirty="0">
                <a:solidFill>
                  <a:srgbClr val="1B2340"/>
                </a:solidFill>
                <a:latin typeface="Calibri" pitchFamily="34" charset="0"/>
                <a:ea typeface="Calibri" pitchFamily="34" charset="-122"/>
                <a:cs typeface="Calibri" pitchFamily="34" charset="-120"/>
              </a:rPr>
              <a:t>Khi n rất lớn, thuật toán có độ phức tạp thấp hơn luôn thắng</a:t>
            </a:r>
            <a:endParaRPr lang="en-US" sz="1200" dirty="0"/>
          </a:p>
        </p:txBody>
      </p:sp>
      <p:sp>
        <p:nvSpPr>
          <p:cNvPr id="13" name="Shape 11"/>
          <p:cNvSpPr/>
          <p:nvPr/>
        </p:nvSpPr>
        <p:spPr>
          <a:xfrm>
            <a:off x="777240" y="4800600"/>
            <a:ext cx="274320" cy="274320"/>
          </a:xfrm>
          <a:prstGeom prst="ellipse">
            <a:avLst/>
          </a:prstGeom>
          <a:solidFill>
            <a:srgbClr val="2E7D5B"/>
          </a:solidFill>
          <a:ln/>
        </p:spPr>
      </p:sp>
      <p:sp>
        <p:nvSpPr>
          <p:cNvPr id="14" name="Text 12"/>
          <p:cNvSpPr/>
          <p:nvPr/>
        </p:nvSpPr>
        <p:spPr>
          <a:xfrm>
            <a:off x="777240" y="480060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188720" y="4754880"/>
            <a:ext cx="4617720" cy="1005840"/>
          </a:xfrm>
          <a:prstGeom prst="rect">
            <a:avLst/>
          </a:prstGeom>
          <a:noFill/>
          <a:ln/>
        </p:spPr>
        <p:txBody>
          <a:bodyPr wrap="square" rtlCol="0" anchor="ctr"/>
          <a:lstStyle/>
          <a:p>
            <a:pPr marL="0" indent="0">
              <a:lnSpc>
                <a:spcPct val="120000"/>
              </a:lnSpc>
              <a:buNone/>
            </a:pPr>
            <a:r>
              <a:rPr lang="en-US" sz="1200" dirty="0">
                <a:solidFill>
                  <a:srgbClr val="1B2340"/>
                </a:solidFill>
                <a:latin typeface="Calibri" pitchFamily="34" charset="0"/>
                <a:ea typeface="Calibri" pitchFamily="34" charset="-122"/>
                <a:cs typeface="Calibri" pitchFamily="34" charset="-120"/>
              </a:rPr>
              <a:t>Độ phức tạp không gian (bộ nhớ) cũng quan trọng — chủ đề riêng</a:t>
            </a:r>
            <a:endParaRPr lang="en-US" sz="1200" dirty="0"/>
          </a:p>
        </p:txBody>
      </p:sp>
      <p:sp>
        <p:nvSpPr>
          <p:cNvPr id="16" name="Shape 14"/>
          <p:cNvSpPr/>
          <p:nvPr/>
        </p:nvSpPr>
        <p:spPr>
          <a:xfrm>
            <a:off x="6199632" y="1783080"/>
            <a:ext cx="5532120" cy="4297680"/>
          </a:xfrm>
          <a:prstGeom prst="roundRect">
            <a:avLst>
              <a:gd name="adj" fmla="val 2553"/>
            </a:avLst>
          </a:prstGeom>
          <a:solidFill>
            <a:srgbClr val="FBEAEC"/>
          </a:solidFill>
          <a:ln/>
        </p:spPr>
      </p:sp>
      <p:sp>
        <p:nvSpPr>
          <p:cNvPr id="17" name="Text 15"/>
          <p:cNvSpPr/>
          <p:nvPr/>
        </p:nvSpPr>
        <p:spPr>
          <a:xfrm>
            <a:off x="6519672" y="2011680"/>
            <a:ext cx="4937760" cy="365760"/>
          </a:xfrm>
          <a:prstGeom prst="rect">
            <a:avLst/>
          </a:prstGeom>
          <a:noFill/>
          <a:ln/>
        </p:spPr>
        <p:txBody>
          <a:bodyPr wrap="square" rtlCol="0" anchor="ctr"/>
          <a:lstStyle/>
          <a:p>
            <a:pPr marL="0" indent="0">
              <a:buNone/>
            </a:pPr>
            <a:r>
              <a:rPr lang="en-US" sz="1500" b="1" dirty="0">
                <a:solidFill>
                  <a:srgbClr val="B23A48"/>
                </a:solidFill>
                <a:latin typeface="Calibri" pitchFamily="34" charset="0"/>
                <a:ea typeface="Calibri" pitchFamily="34" charset="-122"/>
                <a:cs typeface="Calibri" pitchFamily="34" charset="-120"/>
              </a:rPr>
              <a:t>TRÁNH NHẦM LẪN</a:t>
            </a:r>
            <a:endParaRPr lang="en-US" sz="1500" dirty="0"/>
          </a:p>
        </p:txBody>
      </p:sp>
      <p:sp>
        <p:nvSpPr>
          <p:cNvPr id="18" name="Shape 16"/>
          <p:cNvSpPr/>
          <p:nvPr/>
        </p:nvSpPr>
        <p:spPr>
          <a:xfrm>
            <a:off x="6519672" y="2606040"/>
            <a:ext cx="274320" cy="274320"/>
          </a:xfrm>
          <a:prstGeom prst="ellipse">
            <a:avLst/>
          </a:prstGeom>
          <a:solidFill>
            <a:srgbClr val="B23A48"/>
          </a:solidFill>
          <a:ln/>
        </p:spPr>
      </p:sp>
      <p:sp>
        <p:nvSpPr>
          <p:cNvPr id="19" name="Text 17"/>
          <p:cNvSpPr/>
          <p:nvPr/>
        </p:nvSpPr>
        <p:spPr>
          <a:xfrm>
            <a:off x="6519672" y="260604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6931152" y="2560320"/>
            <a:ext cx="4617720" cy="1234440"/>
          </a:xfrm>
          <a:prstGeom prst="rect">
            <a:avLst/>
          </a:prstGeom>
          <a:noFill/>
          <a:ln/>
        </p:spPr>
        <p:txBody>
          <a:bodyPr wrap="square" rtlCol="0" anchor="ctr"/>
          <a:lstStyle/>
          <a:p>
            <a:pPr marL="0" indent="0">
              <a:lnSpc>
                <a:spcPct val="120000"/>
              </a:lnSpc>
              <a:buNone/>
            </a:pPr>
            <a:r>
              <a:rPr lang="en-US" sz="1200" dirty="0">
                <a:solidFill>
                  <a:srgbClr val="1B2340"/>
                </a:solidFill>
                <a:latin typeface="Calibri" pitchFamily="34" charset="0"/>
                <a:ea typeface="Calibri" pitchFamily="34" charset="-122"/>
                <a:cs typeface="Calibri" pitchFamily="34" charset="-120"/>
              </a:rPr>
              <a:t>Code ngắn không đồng nghĩa độ phức tạp thấp (đệ quy có thể ẩn O(2ⁿ))</a:t>
            </a:r>
            <a:endParaRPr lang="en-US" sz="1200" dirty="0"/>
          </a:p>
        </p:txBody>
      </p:sp>
      <p:sp>
        <p:nvSpPr>
          <p:cNvPr id="21" name="Shape 19"/>
          <p:cNvSpPr/>
          <p:nvPr/>
        </p:nvSpPr>
        <p:spPr>
          <a:xfrm>
            <a:off x="6519672" y="3977640"/>
            <a:ext cx="274320" cy="274320"/>
          </a:xfrm>
          <a:prstGeom prst="ellipse">
            <a:avLst/>
          </a:prstGeom>
          <a:solidFill>
            <a:srgbClr val="B23A48"/>
          </a:solidFill>
          <a:ln/>
        </p:spPr>
      </p:sp>
      <p:sp>
        <p:nvSpPr>
          <p:cNvPr id="22" name="Text 20"/>
          <p:cNvSpPr/>
          <p:nvPr/>
        </p:nvSpPr>
        <p:spPr>
          <a:xfrm>
            <a:off x="6519672" y="3977640"/>
            <a:ext cx="27432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6931152" y="3931920"/>
            <a:ext cx="4617720" cy="1234440"/>
          </a:xfrm>
          <a:prstGeom prst="rect">
            <a:avLst/>
          </a:prstGeom>
          <a:noFill/>
          <a:ln/>
        </p:spPr>
        <p:txBody>
          <a:bodyPr wrap="square" rtlCol="0" anchor="ctr"/>
          <a:lstStyle/>
          <a:p>
            <a:pPr marL="0" indent="0">
              <a:lnSpc>
                <a:spcPct val="120000"/>
              </a:lnSpc>
              <a:buNone/>
            </a:pPr>
            <a:r>
              <a:rPr lang="en-US" sz="1200" dirty="0">
                <a:solidFill>
                  <a:srgbClr val="1B2340"/>
                </a:solidFill>
                <a:latin typeface="Calibri" pitchFamily="34" charset="0"/>
                <a:ea typeface="Calibri" pitchFamily="34" charset="-122"/>
                <a:cs typeface="Calibri" pitchFamily="34" charset="-120"/>
              </a:rPr>
              <a:t>Big O không phụ thuộc ngôn ngữ lập trình — chỉ phụ thuộc thuật toán</a:t>
            </a:r>
            <a:endParaRPr lang="en-US" sz="1200" dirty="0"/>
          </a:p>
        </p:txBody>
      </p:sp>
      <p:sp>
        <p:nvSpPr>
          <p:cNvPr id="24" name="Text 22"/>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12</a:t>
            </a:r>
            <a:endParaRPr lang="en-US" sz="1000" dirty="0"/>
          </a:p>
        </p:txBody>
      </p:sp>
      <p:sp>
        <p:nvSpPr>
          <p:cNvPr id="25" name="Text 23"/>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2377440" cy="329184"/>
          </a:xfrm>
          <a:prstGeom prst="roundRect">
            <a:avLst>
              <a:gd name="adj" fmla="val 50000"/>
            </a:avLst>
          </a:prstGeom>
          <a:solidFill>
            <a:srgbClr val="1E2761"/>
          </a:solidFill>
          <a:ln/>
        </p:spPr>
      </p:sp>
      <p:sp>
        <p:nvSpPr>
          <p:cNvPr id="3" name="Text 1"/>
          <p:cNvSpPr/>
          <p:nvPr/>
        </p:nvSpPr>
        <p:spPr>
          <a:xfrm>
            <a:off x="457200" y="411480"/>
            <a:ext cx="2377440" cy="329184"/>
          </a:xfrm>
          <a:prstGeom prst="rect">
            <a:avLst/>
          </a:prstGeom>
          <a:noFill/>
          <a:ln/>
        </p:spPr>
        <p:txBody>
          <a:bodyPr wrap="square"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LUYỆN TẬP</a:t>
            </a:r>
            <a:endParaRPr lang="en-US" sz="1100" dirty="0"/>
          </a:p>
        </p:txBody>
      </p:sp>
      <p:sp>
        <p:nvSpPr>
          <p:cNvPr id="4" name="Text 2"/>
          <p:cNvSpPr/>
          <p:nvPr/>
        </p:nvSpPr>
        <p:spPr>
          <a:xfrm>
            <a:off x="457200" y="822960"/>
            <a:ext cx="11274552" cy="731520"/>
          </a:xfrm>
          <a:prstGeom prst="rect">
            <a:avLst/>
          </a:prstGeom>
          <a:noFill/>
          <a:ln/>
        </p:spPr>
        <p:txBody>
          <a:bodyPr wrap="square" rtlCol="0" anchor="ctr"/>
          <a:lstStyle/>
          <a:p>
            <a:pPr marL="0" indent="0">
              <a:buNone/>
            </a:pPr>
            <a:r>
              <a:rPr lang="en-US" sz="3000" b="1" dirty="0">
                <a:solidFill>
                  <a:srgbClr val="1E2761"/>
                </a:solidFill>
                <a:latin typeface="Calibri" pitchFamily="34" charset="0"/>
                <a:ea typeface="Calibri" pitchFamily="34" charset="-122"/>
                <a:cs typeface="Calibri" pitchFamily="34" charset="-120"/>
              </a:rPr>
              <a:t>Bài tập tự luyện</a:t>
            </a:r>
            <a:endParaRPr lang="en-US" sz="3000" dirty="0"/>
          </a:p>
        </p:txBody>
      </p:sp>
      <p:sp>
        <p:nvSpPr>
          <p:cNvPr id="5" name="Text 3"/>
          <p:cNvSpPr/>
          <p:nvPr/>
        </p:nvSpPr>
        <p:spPr>
          <a:xfrm>
            <a:off x="457200" y="1691640"/>
            <a:ext cx="11274552" cy="365760"/>
          </a:xfrm>
          <a:prstGeom prst="rect">
            <a:avLst/>
          </a:prstGeom>
          <a:noFill/>
          <a:ln/>
        </p:spPr>
        <p:txBody>
          <a:bodyPr wrap="square" rtlCol="0" anchor="ctr"/>
          <a:lstStyle/>
          <a:p>
            <a:pPr marL="0" indent="0">
              <a:buNone/>
            </a:pPr>
            <a:r>
              <a:rPr lang="en-US" sz="1350" i="1" dirty="0">
                <a:solidFill>
                  <a:srgbClr val="5B6B8C"/>
                </a:solidFill>
                <a:latin typeface="Calibri" pitchFamily="34" charset="0"/>
                <a:ea typeface="Calibri" pitchFamily="34" charset="-122"/>
                <a:cs typeface="Calibri" pitchFamily="34" charset="-120"/>
              </a:rPr>
              <a:t>Xác định độ phức tạp Big O của mỗi đoạn code sau:</a:t>
            </a:r>
            <a:endParaRPr lang="en-US" sz="1350" dirty="0"/>
          </a:p>
        </p:txBody>
      </p:sp>
      <p:sp>
        <p:nvSpPr>
          <p:cNvPr id="6" name="Shape 4"/>
          <p:cNvSpPr/>
          <p:nvPr/>
        </p:nvSpPr>
        <p:spPr>
          <a:xfrm>
            <a:off x="457200" y="2286000"/>
            <a:ext cx="11274552" cy="914400"/>
          </a:xfrm>
          <a:prstGeom prst="roundRect">
            <a:avLst>
              <a:gd name="adj" fmla="val 10000"/>
            </a:avLst>
          </a:prstGeom>
          <a:solidFill>
            <a:srgbClr val="F4F6FC"/>
          </a:solidFill>
          <a:ln/>
        </p:spPr>
      </p:sp>
      <p:sp>
        <p:nvSpPr>
          <p:cNvPr id="7" name="Shape 5"/>
          <p:cNvSpPr/>
          <p:nvPr/>
        </p:nvSpPr>
        <p:spPr>
          <a:xfrm>
            <a:off x="685800" y="2487168"/>
            <a:ext cx="512064" cy="512064"/>
          </a:xfrm>
          <a:prstGeom prst="ellipse">
            <a:avLst/>
          </a:prstGeom>
          <a:solidFill>
            <a:srgbClr val="1E2761"/>
          </a:solidFill>
          <a:ln/>
        </p:spPr>
      </p:sp>
      <p:sp>
        <p:nvSpPr>
          <p:cNvPr id="8" name="Text 6"/>
          <p:cNvSpPr/>
          <p:nvPr/>
        </p:nvSpPr>
        <p:spPr>
          <a:xfrm>
            <a:off x="685800" y="248716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63040" y="2286000"/>
            <a:ext cx="8503920" cy="914400"/>
          </a:xfrm>
          <a:prstGeom prst="rect">
            <a:avLst/>
          </a:prstGeom>
          <a:noFill/>
          <a:ln/>
        </p:spPr>
        <p:txBody>
          <a:bodyPr wrap="square" rtlCol="0" anchor="ctr"/>
          <a:lstStyle/>
          <a:p>
            <a:pPr marL="0" indent="0">
              <a:lnSpc>
                <a:spcPct val="115000"/>
              </a:lnSpc>
              <a:buNone/>
            </a:pPr>
            <a:r>
              <a:rPr lang="en-US" sz="1250" dirty="0">
                <a:solidFill>
                  <a:srgbClr val="1B2340"/>
                </a:solidFill>
                <a:latin typeface="Calibri" pitchFamily="34" charset="0"/>
                <a:ea typeface="Calibri" pitchFamily="34" charset="-122"/>
                <a:cs typeface="Calibri" pitchFamily="34" charset="-120"/>
              </a:rPr>
              <a:t>In tất cả các cặp (i, j) trong mảng n phần tử với i &lt; j</a:t>
            </a:r>
            <a:endParaRPr lang="en-US" sz="1250" dirty="0"/>
          </a:p>
        </p:txBody>
      </p:sp>
      <p:sp>
        <p:nvSpPr>
          <p:cNvPr id="10" name="Shape 8"/>
          <p:cNvSpPr/>
          <p:nvPr/>
        </p:nvSpPr>
        <p:spPr>
          <a:xfrm>
            <a:off x="10195560" y="2487168"/>
            <a:ext cx="1371600" cy="512064"/>
          </a:xfrm>
          <a:prstGeom prst="roundRect">
            <a:avLst>
              <a:gd name="adj" fmla="val 50000"/>
            </a:avLst>
          </a:prstGeom>
          <a:solidFill>
            <a:srgbClr val="F2B134"/>
          </a:solidFill>
          <a:ln/>
        </p:spPr>
      </p:sp>
      <p:sp>
        <p:nvSpPr>
          <p:cNvPr id="11" name="Text 9"/>
          <p:cNvSpPr/>
          <p:nvPr/>
        </p:nvSpPr>
        <p:spPr>
          <a:xfrm>
            <a:off x="10195560" y="2487168"/>
            <a:ext cx="1371600" cy="512064"/>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O(n²)</a:t>
            </a:r>
            <a:endParaRPr lang="en-US" sz="1250" dirty="0"/>
          </a:p>
        </p:txBody>
      </p:sp>
      <p:sp>
        <p:nvSpPr>
          <p:cNvPr id="12" name="Shape 10"/>
          <p:cNvSpPr/>
          <p:nvPr/>
        </p:nvSpPr>
        <p:spPr>
          <a:xfrm>
            <a:off x="457200" y="3337560"/>
            <a:ext cx="11274552" cy="914400"/>
          </a:xfrm>
          <a:prstGeom prst="roundRect">
            <a:avLst>
              <a:gd name="adj" fmla="val 10000"/>
            </a:avLst>
          </a:prstGeom>
          <a:solidFill>
            <a:srgbClr val="F4F6FC"/>
          </a:solidFill>
          <a:ln/>
        </p:spPr>
      </p:sp>
      <p:sp>
        <p:nvSpPr>
          <p:cNvPr id="13" name="Shape 11"/>
          <p:cNvSpPr/>
          <p:nvPr/>
        </p:nvSpPr>
        <p:spPr>
          <a:xfrm>
            <a:off x="685800" y="3538728"/>
            <a:ext cx="512064" cy="512064"/>
          </a:xfrm>
          <a:prstGeom prst="ellipse">
            <a:avLst/>
          </a:prstGeom>
          <a:solidFill>
            <a:srgbClr val="1E2761"/>
          </a:solidFill>
          <a:ln/>
        </p:spPr>
      </p:sp>
      <p:sp>
        <p:nvSpPr>
          <p:cNvPr id="14" name="Text 12"/>
          <p:cNvSpPr/>
          <p:nvPr/>
        </p:nvSpPr>
        <p:spPr>
          <a:xfrm>
            <a:off x="685800" y="353872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1463040" y="3337560"/>
            <a:ext cx="8503920" cy="914400"/>
          </a:xfrm>
          <a:prstGeom prst="rect">
            <a:avLst/>
          </a:prstGeom>
          <a:noFill/>
          <a:ln/>
        </p:spPr>
        <p:txBody>
          <a:bodyPr wrap="square" rtlCol="0" anchor="ctr"/>
          <a:lstStyle/>
          <a:p>
            <a:pPr marL="0" indent="0">
              <a:lnSpc>
                <a:spcPct val="115000"/>
              </a:lnSpc>
              <a:buNone/>
            </a:pPr>
            <a:r>
              <a:rPr lang="en-US" sz="1250" dirty="0">
                <a:solidFill>
                  <a:srgbClr val="1B2340"/>
                </a:solidFill>
                <a:latin typeface="Calibri" pitchFamily="34" charset="0"/>
                <a:ea typeface="Calibri" pitchFamily="34" charset="-122"/>
                <a:cs typeface="Calibri" pitchFamily="34" charset="-120"/>
              </a:rPr>
              <a:t>Vòng lặp while giảm n đi một nửa mỗi lần cho đến khi n ≤ 1</a:t>
            </a:r>
            <a:endParaRPr lang="en-US" sz="1250" dirty="0"/>
          </a:p>
        </p:txBody>
      </p:sp>
      <p:sp>
        <p:nvSpPr>
          <p:cNvPr id="16" name="Shape 14"/>
          <p:cNvSpPr/>
          <p:nvPr/>
        </p:nvSpPr>
        <p:spPr>
          <a:xfrm>
            <a:off x="10195560" y="3538728"/>
            <a:ext cx="1371600" cy="512064"/>
          </a:xfrm>
          <a:prstGeom prst="roundRect">
            <a:avLst>
              <a:gd name="adj" fmla="val 50000"/>
            </a:avLst>
          </a:prstGeom>
          <a:solidFill>
            <a:srgbClr val="F2B134"/>
          </a:solidFill>
          <a:ln/>
        </p:spPr>
      </p:sp>
      <p:sp>
        <p:nvSpPr>
          <p:cNvPr id="17" name="Text 15"/>
          <p:cNvSpPr/>
          <p:nvPr/>
        </p:nvSpPr>
        <p:spPr>
          <a:xfrm>
            <a:off x="10195560" y="3538728"/>
            <a:ext cx="1371600" cy="512064"/>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O(log n)</a:t>
            </a:r>
            <a:endParaRPr lang="en-US" sz="1250" dirty="0"/>
          </a:p>
        </p:txBody>
      </p:sp>
      <p:sp>
        <p:nvSpPr>
          <p:cNvPr id="18" name="Shape 16"/>
          <p:cNvSpPr/>
          <p:nvPr/>
        </p:nvSpPr>
        <p:spPr>
          <a:xfrm>
            <a:off x="457200" y="4389120"/>
            <a:ext cx="11274552" cy="914400"/>
          </a:xfrm>
          <a:prstGeom prst="roundRect">
            <a:avLst>
              <a:gd name="adj" fmla="val 10000"/>
            </a:avLst>
          </a:prstGeom>
          <a:solidFill>
            <a:srgbClr val="F4F6FC"/>
          </a:solidFill>
          <a:ln/>
        </p:spPr>
      </p:sp>
      <p:sp>
        <p:nvSpPr>
          <p:cNvPr id="19" name="Shape 17"/>
          <p:cNvSpPr/>
          <p:nvPr/>
        </p:nvSpPr>
        <p:spPr>
          <a:xfrm>
            <a:off x="685800" y="4590288"/>
            <a:ext cx="512064" cy="512064"/>
          </a:xfrm>
          <a:prstGeom prst="ellipse">
            <a:avLst/>
          </a:prstGeom>
          <a:solidFill>
            <a:srgbClr val="1E2761"/>
          </a:solidFill>
          <a:ln/>
        </p:spPr>
      </p:sp>
      <p:sp>
        <p:nvSpPr>
          <p:cNvPr id="20" name="Text 18"/>
          <p:cNvSpPr/>
          <p:nvPr/>
        </p:nvSpPr>
        <p:spPr>
          <a:xfrm>
            <a:off x="685800" y="459028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463040" y="4389120"/>
            <a:ext cx="8503920" cy="914400"/>
          </a:xfrm>
          <a:prstGeom prst="rect">
            <a:avLst/>
          </a:prstGeom>
          <a:noFill/>
          <a:ln/>
        </p:spPr>
        <p:txBody>
          <a:bodyPr wrap="square" rtlCol="0" anchor="ctr"/>
          <a:lstStyle/>
          <a:p>
            <a:pPr marL="0" indent="0">
              <a:lnSpc>
                <a:spcPct val="115000"/>
              </a:lnSpc>
              <a:buNone/>
            </a:pPr>
            <a:r>
              <a:rPr lang="en-US" sz="1250" dirty="0">
                <a:solidFill>
                  <a:srgbClr val="1B2340"/>
                </a:solidFill>
                <a:latin typeface="Calibri" pitchFamily="34" charset="0"/>
                <a:ea typeface="Calibri" pitchFamily="34" charset="-122"/>
                <a:cs typeface="Calibri" pitchFamily="34" charset="-120"/>
              </a:rPr>
              <a:t>Hai vòng lặp for không lồng nhau, mỗi vòng chạy n lần</a:t>
            </a:r>
            <a:endParaRPr lang="en-US" sz="1250" dirty="0"/>
          </a:p>
        </p:txBody>
      </p:sp>
      <p:sp>
        <p:nvSpPr>
          <p:cNvPr id="22" name="Shape 20"/>
          <p:cNvSpPr/>
          <p:nvPr/>
        </p:nvSpPr>
        <p:spPr>
          <a:xfrm>
            <a:off x="10195560" y="4590288"/>
            <a:ext cx="1371600" cy="512064"/>
          </a:xfrm>
          <a:prstGeom prst="roundRect">
            <a:avLst>
              <a:gd name="adj" fmla="val 50000"/>
            </a:avLst>
          </a:prstGeom>
          <a:solidFill>
            <a:srgbClr val="F2B134"/>
          </a:solidFill>
          <a:ln/>
        </p:spPr>
      </p:sp>
      <p:sp>
        <p:nvSpPr>
          <p:cNvPr id="23" name="Text 21"/>
          <p:cNvSpPr/>
          <p:nvPr/>
        </p:nvSpPr>
        <p:spPr>
          <a:xfrm>
            <a:off x="10195560" y="4590288"/>
            <a:ext cx="1371600" cy="512064"/>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O(n)</a:t>
            </a:r>
            <a:endParaRPr lang="en-US" sz="1250" dirty="0"/>
          </a:p>
        </p:txBody>
      </p:sp>
      <p:sp>
        <p:nvSpPr>
          <p:cNvPr id="24" name="Shape 22"/>
          <p:cNvSpPr/>
          <p:nvPr/>
        </p:nvSpPr>
        <p:spPr>
          <a:xfrm>
            <a:off x="457200" y="5440680"/>
            <a:ext cx="11274552" cy="914400"/>
          </a:xfrm>
          <a:prstGeom prst="roundRect">
            <a:avLst>
              <a:gd name="adj" fmla="val 10000"/>
            </a:avLst>
          </a:prstGeom>
          <a:solidFill>
            <a:srgbClr val="F4F6FC"/>
          </a:solidFill>
          <a:ln/>
        </p:spPr>
      </p:sp>
      <p:sp>
        <p:nvSpPr>
          <p:cNvPr id="25" name="Shape 23"/>
          <p:cNvSpPr/>
          <p:nvPr/>
        </p:nvSpPr>
        <p:spPr>
          <a:xfrm>
            <a:off x="685800" y="5641848"/>
            <a:ext cx="512064" cy="512064"/>
          </a:xfrm>
          <a:prstGeom prst="ellipse">
            <a:avLst/>
          </a:prstGeom>
          <a:solidFill>
            <a:srgbClr val="1E2761"/>
          </a:solidFill>
          <a:ln/>
        </p:spPr>
      </p:sp>
      <p:sp>
        <p:nvSpPr>
          <p:cNvPr id="26" name="Text 24"/>
          <p:cNvSpPr/>
          <p:nvPr/>
        </p:nvSpPr>
        <p:spPr>
          <a:xfrm>
            <a:off x="685800" y="5641848"/>
            <a:ext cx="512064" cy="51206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1463040" y="5440680"/>
            <a:ext cx="8503920" cy="914400"/>
          </a:xfrm>
          <a:prstGeom prst="rect">
            <a:avLst/>
          </a:prstGeom>
          <a:noFill/>
          <a:ln/>
        </p:spPr>
        <p:txBody>
          <a:bodyPr wrap="square" rtlCol="0" anchor="ctr"/>
          <a:lstStyle/>
          <a:p>
            <a:pPr marL="0" indent="0">
              <a:lnSpc>
                <a:spcPct val="115000"/>
              </a:lnSpc>
              <a:buNone/>
            </a:pPr>
            <a:r>
              <a:rPr lang="en-US" sz="1250" dirty="0">
                <a:solidFill>
                  <a:srgbClr val="1B2340"/>
                </a:solidFill>
                <a:latin typeface="Calibri" pitchFamily="34" charset="0"/>
                <a:ea typeface="Calibri" pitchFamily="34" charset="-122"/>
                <a:cs typeface="Calibri" pitchFamily="34" charset="-120"/>
              </a:rPr>
              <a:t>Đệ quy chia bài toán thành 2 phần n/2, cộng thêm O(n) mỗi lần gọi (Merge Sort)</a:t>
            </a:r>
            <a:endParaRPr lang="en-US" sz="1250" dirty="0"/>
          </a:p>
        </p:txBody>
      </p:sp>
      <p:sp>
        <p:nvSpPr>
          <p:cNvPr id="28" name="Shape 26"/>
          <p:cNvSpPr/>
          <p:nvPr/>
        </p:nvSpPr>
        <p:spPr>
          <a:xfrm>
            <a:off x="10195560" y="5641848"/>
            <a:ext cx="1371600" cy="512064"/>
          </a:xfrm>
          <a:prstGeom prst="roundRect">
            <a:avLst>
              <a:gd name="adj" fmla="val 50000"/>
            </a:avLst>
          </a:prstGeom>
          <a:solidFill>
            <a:srgbClr val="F2B134"/>
          </a:solidFill>
          <a:ln/>
        </p:spPr>
      </p:sp>
      <p:sp>
        <p:nvSpPr>
          <p:cNvPr id="29" name="Text 27"/>
          <p:cNvSpPr/>
          <p:nvPr/>
        </p:nvSpPr>
        <p:spPr>
          <a:xfrm>
            <a:off x="10195560" y="5641848"/>
            <a:ext cx="1371600" cy="512064"/>
          </a:xfrm>
          <a:prstGeom prst="rect">
            <a:avLst/>
          </a:prstGeom>
          <a:noFill/>
          <a:ln/>
        </p:spPr>
        <p:txBody>
          <a:bodyPr wrap="square"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O(n log n)</a:t>
            </a:r>
            <a:endParaRPr lang="en-US" sz="1250" dirty="0"/>
          </a:p>
        </p:txBody>
      </p:sp>
      <p:sp>
        <p:nvSpPr>
          <p:cNvPr id="30" name="Text 28"/>
          <p:cNvSpPr/>
          <p:nvPr/>
        </p:nvSpPr>
        <p:spPr>
          <a:xfrm>
            <a:off x="11548872" y="6446520"/>
            <a:ext cx="457200" cy="274320"/>
          </a:xfrm>
          <a:prstGeom prst="rect">
            <a:avLst/>
          </a:prstGeom>
          <a:noFill/>
          <a:ln/>
        </p:spPr>
        <p:txBody>
          <a:bodyPr wrap="square" rtlCol="0" anchor="ctr"/>
          <a:lstStyle/>
          <a:p>
            <a:pPr marL="0" indent="0" algn="r">
              <a:buNone/>
            </a:pPr>
            <a:r>
              <a:rPr lang="en-US" sz="1000" dirty="0">
                <a:solidFill>
                  <a:srgbClr val="5B6B8C"/>
                </a:solidFill>
                <a:latin typeface="Calibri" pitchFamily="34" charset="0"/>
                <a:ea typeface="Calibri" pitchFamily="34" charset="-122"/>
                <a:cs typeface="Calibri" pitchFamily="34" charset="-120"/>
              </a:rPr>
              <a:t>13</a:t>
            </a:r>
            <a:endParaRPr lang="en-US" sz="1000" dirty="0"/>
          </a:p>
        </p:txBody>
      </p:sp>
      <p:sp>
        <p:nvSpPr>
          <p:cNvPr id="31" name="Text 29"/>
          <p:cNvSpPr/>
          <p:nvPr/>
        </p:nvSpPr>
        <p:spPr>
          <a:xfrm>
            <a:off x="457200" y="6446520"/>
            <a:ext cx="4572000" cy="274320"/>
          </a:xfrm>
          <a:prstGeom prst="rect">
            <a:avLst/>
          </a:prstGeom>
          <a:noFill/>
          <a:ln/>
        </p:spPr>
        <p:txBody>
          <a:bodyPr wrap="square" rtlCol="0" anchor="ctr"/>
          <a:lstStyle/>
          <a:p>
            <a:pPr marL="0" indent="0" algn="l">
              <a:buNone/>
            </a:pPr>
            <a:r>
              <a:rPr lang="en-US" sz="1000" dirty="0">
                <a:solidFill>
                  <a:srgbClr val="5B6B8C"/>
                </a:solidFill>
                <a:latin typeface="Calibri" pitchFamily="34" charset="0"/>
                <a:ea typeface="Calibri" pitchFamily="34" charset="-122"/>
                <a:cs typeface="Calibri" pitchFamily="34" charset="-120"/>
              </a:rPr>
              <a:t>Độ phức tạp thuật toán · DSA cơ bản</a:t>
            </a:r>
            <a:endParaRPr lang="en-US" sz="1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011680" y="-2011680"/>
            <a:ext cx="4572000" cy="4572000"/>
          </a:xfrm>
          <a:prstGeom prst="ellipse">
            <a:avLst/>
          </a:prstGeom>
          <a:solidFill>
            <a:srgbClr val="273478"/>
          </a:solidFill>
          <a:ln/>
        </p:spPr>
      </p:sp>
      <p:sp>
        <p:nvSpPr>
          <p:cNvPr id="3" name="Shape 1"/>
          <p:cNvSpPr/>
          <p:nvPr/>
        </p:nvSpPr>
        <p:spPr>
          <a:xfrm>
            <a:off x="9601200" y="4572000"/>
            <a:ext cx="4572000" cy="4572000"/>
          </a:xfrm>
          <a:prstGeom prst="ellipse">
            <a:avLst/>
          </a:prstGeom>
          <a:solidFill>
            <a:srgbClr val="273478"/>
          </a:solidFill>
          <a:ln/>
        </p:spPr>
      </p:sp>
      <p:sp>
        <p:nvSpPr>
          <p:cNvPr id="4" name="Text 2"/>
          <p:cNvSpPr/>
          <p:nvPr/>
        </p:nvSpPr>
        <p:spPr>
          <a:xfrm>
            <a:off x="822960" y="640080"/>
            <a:ext cx="7315200" cy="365760"/>
          </a:xfrm>
          <a:prstGeom prst="rect">
            <a:avLst/>
          </a:prstGeom>
          <a:noFill/>
          <a:ln/>
        </p:spPr>
        <p:txBody>
          <a:bodyPr wrap="square" rtlCol="0" anchor="ctr"/>
          <a:lstStyle/>
          <a:p>
            <a:pPr marL="0" indent="0">
              <a:buNone/>
            </a:pPr>
            <a:r>
              <a:rPr lang="en-US" sz="1300" b="1" kern="0" spc="200" dirty="0">
                <a:solidFill>
                  <a:srgbClr val="F2B134"/>
                </a:solidFill>
                <a:latin typeface="Calibri" pitchFamily="34" charset="0"/>
                <a:ea typeface="Calibri" pitchFamily="34" charset="-122"/>
                <a:cs typeface="Calibri" pitchFamily="34" charset="-120"/>
              </a:rPr>
              <a:t>TÓM TẮT</a:t>
            </a:r>
            <a:endParaRPr lang="en-US" sz="1300" dirty="0"/>
          </a:p>
        </p:txBody>
      </p:sp>
      <p:sp>
        <p:nvSpPr>
          <p:cNvPr id="5" name="Text 3"/>
          <p:cNvSpPr/>
          <p:nvPr/>
        </p:nvSpPr>
        <p:spPr>
          <a:xfrm>
            <a:off x="777240" y="1005840"/>
            <a:ext cx="91440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Những điều cốt lõi cần nhớ</a:t>
            </a:r>
            <a:endParaRPr lang="en-US" sz="2800" dirty="0"/>
          </a:p>
        </p:txBody>
      </p:sp>
      <p:sp>
        <p:nvSpPr>
          <p:cNvPr id="6" name="Shape 4"/>
          <p:cNvSpPr/>
          <p:nvPr/>
        </p:nvSpPr>
        <p:spPr>
          <a:xfrm>
            <a:off x="822960" y="2039112"/>
            <a:ext cx="128016" cy="640080"/>
          </a:xfrm>
          <a:prstGeom prst="roundRect">
            <a:avLst/>
          </a:prstGeom>
          <a:solidFill>
            <a:srgbClr val="F2B134"/>
          </a:solidFill>
          <a:ln/>
        </p:spPr>
      </p:sp>
      <p:sp>
        <p:nvSpPr>
          <p:cNvPr id="7" name="Text 5"/>
          <p:cNvSpPr/>
          <p:nvPr/>
        </p:nvSpPr>
        <p:spPr>
          <a:xfrm>
            <a:off x="1188720" y="1965960"/>
            <a:ext cx="10149840" cy="82296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Độ phức tạp thời gian đánh giá thuật toán độc lập với phần cứng, dựa trên cách thời gian chạy tăng theo n</a:t>
            </a:r>
            <a:endParaRPr lang="en-US" sz="1450" dirty="0"/>
          </a:p>
        </p:txBody>
      </p:sp>
      <p:sp>
        <p:nvSpPr>
          <p:cNvPr id="8" name="Shape 6"/>
          <p:cNvSpPr/>
          <p:nvPr/>
        </p:nvSpPr>
        <p:spPr>
          <a:xfrm>
            <a:off x="822960" y="2999232"/>
            <a:ext cx="128016" cy="640080"/>
          </a:xfrm>
          <a:prstGeom prst="roundRect">
            <a:avLst/>
          </a:prstGeom>
          <a:solidFill>
            <a:srgbClr val="F2B134"/>
          </a:solidFill>
          <a:ln/>
        </p:spPr>
      </p:sp>
      <p:sp>
        <p:nvSpPr>
          <p:cNvPr id="9" name="Text 7"/>
          <p:cNvSpPr/>
          <p:nvPr/>
        </p:nvSpPr>
        <p:spPr>
          <a:xfrm>
            <a:off x="1188720" y="2926080"/>
            <a:ext cx="10149840" cy="82296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Big O mô tả cận trên (worst case) — ký hiệu phổ biến nhất trong thực tế</a:t>
            </a:r>
            <a:endParaRPr lang="en-US" sz="1450" dirty="0"/>
          </a:p>
        </p:txBody>
      </p:sp>
      <p:sp>
        <p:nvSpPr>
          <p:cNvPr id="10" name="Shape 8"/>
          <p:cNvSpPr/>
          <p:nvPr/>
        </p:nvSpPr>
        <p:spPr>
          <a:xfrm>
            <a:off x="822960" y="3959352"/>
            <a:ext cx="128016" cy="640080"/>
          </a:xfrm>
          <a:prstGeom prst="roundRect">
            <a:avLst/>
          </a:prstGeom>
          <a:solidFill>
            <a:srgbClr val="F2B134"/>
          </a:solidFill>
          <a:ln/>
        </p:spPr>
      </p:sp>
      <p:sp>
        <p:nvSpPr>
          <p:cNvPr id="11" name="Text 9"/>
          <p:cNvSpPr/>
          <p:nvPr/>
        </p:nvSpPr>
        <p:spPr>
          <a:xfrm>
            <a:off x="1188720" y="3886200"/>
            <a:ext cx="10149840" cy="82296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Quy tắc cốt lõi: bỏ hằng số, giữ số hạng tăng nhanh nhất, cộng dồn khi tuần tự, nhân khi lồng nhau</a:t>
            </a:r>
            <a:endParaRPr lang="en-US" sz="1450" dirty="0"/>
          </a:p>
        </p:txBody>
      </p:sp>
      <p:sp>
        <p:nvSpPr>
          <p:cNvPr id="12" name="Shape 10"/>
          <p:cNvSpPr/>
          <p:nvPr/>
        </p:nvSpPr>
        <p:spPr>
          <a:xfrm>
            <a:off x="822960" y="4919472"/>
            <a:ext cx="128016" cy="640080"/>
          </a:xfrm>
          <a:prstGeom prst="roundRect">
            <a:avLst/>
          </a:prstGeom>
          <a:solidFill>
            <a:srgbClr val="F2B134"/>
          </a:solidFill>
          <a:ln/>
        </p:spPr>
      </p:sp>
      <p:sp>
        <p:nvSpPr>
          <p:cNvPr id="13" name="Text 11"/>
          <p:cNvSpPr/>
          <p:nvPr/>
        </p:nvSpPr>
        <p:spPr>
          <a:xfrm>
            <a:off x="1188720" y="4846320"/>
            <a:ext cx="10149840" cy="82296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Thứ tự tăng dần: O(1) &lt; O(log n) &lt; O(n) &lt; O(n log n) &lt; O(n²) &lt; O(2ⁿ) &lt; O(n!)</a:t>
            </a:r>
            <a:endParaRPr lang="en-US" sz="1450" dirty="0"/>
          </a:p>
        </p:txBody>
      </p:sp>
      <p:sp>
        <p:nvSpPr>
          <p:cNvPr id="14" name="Text 12"/>
          <p:cNvSpPr/>
          <p:nvPr/>
        </p:nvSpPr>
        <p:spPr>
          <a:xfrm>
            <a:off x="822960" y="6035040"/>
            <a:ext cx="10058400" cy="45720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Nền tảng bắt buộc trước khi học sâu hơn về sắp xếp, tìm kiếm, cây và đồ thị.</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1719</Words>
  <Application>Microsoft Office PowerPoint</Application>
  <PresentationFormat>Widescreen</PresentationFormat>
  <Paragraphs>251</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Administrator</cp:lastModifiedBy>
  <cp:revision>2</cp:revision>
  <dcterms:created xsi:type="dcterms:W3CDTF">2026-08-20T02:43:25Z</dcterms:created>
  <dcterms:modified xsi:type="dcterms:W3CDTF">2026-08-20T06:35:54Z</dcterms:modified>
</cp:coreProperties>
</file>